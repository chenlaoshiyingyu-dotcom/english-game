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本课教学主题名 A place I really like 是概括，不是截图原题给出的文章标题。原题为英文杂志征稿，约100词。单击显示四项任务。选择居住地区的一个地点，文章始终围绕它；不要求是景点或著名地方。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征稿正文按截图转录，原题没有单独的主题标题，不添加伪造原题标题。题干说英语杂志，未额外说明年龄。in the area where you live 要求当地地点；from each country 是评选说明，不是让学生介绍整个国家。需要回答 WHY、WHEN、OTHERS 三问，并介绍所选的一个地点。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四次单击依次回应地点、喜欢原因、到访时间、其他人是否也喜欢。第三问不强迫答 yes，但需要清楚判断；用常见访客和活动支持判断可以更具体。WHEN 不要求写完整交通路线。约100词注意分配篇幅。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片从左到右：有步道和草坪的公园、书架与阅览桌的图书馆、室内篮球场的体育中心、有饮品和点心柜台的咖啡馆。先让学生看图说词，再单击显示标签。体育中心图中只有篮球场，不据此声称它还有游泳池。四图是地点类型示意，不是某个真实命名地点的照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三次单击，示范地点类型怎样变成具体当地地点。Green Park 只是课堂示例名，不指向图片中的真实公园。没有英文专名时可用 the park near my home。无需地址、交通路线和国家旅游介绍。学生选择自己熟悉的当地地点，位置关系要按实际情况写。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四次单击按原因1→细节1→原因2→细节2。这里是公园和图书馆两个备选示例，不把两个地点都抄到一篇文章。学生可写运动、与朋友相处、阅读、环境等原因；具体活动或设施必须支持相应的理由。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三次单击，学生先根据中文情境尝试说，再显示例句。通常用一般现在时和 usually/often 描述到访习惯。每周重复的周六上午用 on Saturday mornings；at weekends 也可。frequency 或 with whom 是可选细节，原题不强制写。不要整篇只写过去某次旅游而漏掉平时 WHEN。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四次单击：yes 判断→not very 判断→yes 观察→not very 观察。两栏是不同可选回答。第三问可答 yes/no，避免没有根据地写 everyone loves it。用 often/usually 表示经常观察；does not seem 表明基于自己的印象。如果只是某个工作日上午人少，不足以断言一直不受欢迎，可说 quiet when I go, but busy at weekends。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六次单击，先左栏从上到下，再右栏。borrow books 是借入，不能用 lend books 表达学生借书。be popular with + 人群。busy 用于地点表示人多、热闹；不要把其中文解释机械迁移为“地点很忙”。walk 在 a short walk 中是名词。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四次单击显示例句。because 接原因分句；also 在一般实义动词前，be 动词后。However, 用在两个不同时间的对比，常另起一句并加逗号。for example/for instance 都可接受。按内容选择，不要求每个都用，也不要求每个只能用一次。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正文100词，不含标题。五次单击：because / For example / also / However / because。第2空接受 For instance。because 重复使用符合语意；第4空对比清晨安静与稍晚人多。先让学生选择再单击显示答案。</a:t>
            </a:r>
          </a:p>
          <a:p>
            <a:r>
              <a:t>Green Park 是课堂写作示例，活动和访客为示例情境；学生要根据自己的当地地点调整。本文明确回答地点、喜欢原因、到访时间、其他人是否喜欢并补充观察。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半开放计划：地点和位置、原因与细节、习惯时间、受欢迎判断与观察都由学生填写。不要预先规定公园、周六或 yes。访客情况按自己熟悉的地点填写；可说不太受欢迎或不同时间热闹程度不同。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四次单击按地点、喜欢原因及例子、到访时间、他人使用情况呈现。位置句和第二个习惯句可按篇幅取舍；斜线是可选表达，不抄入正文。最后可以判断 popular/not very popular/quiet during my visits，内容与事实一致即可。开头问句、结尾感受可选，不必为套格式挤掉 WHEN 或 OTHERS。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自查保持可见。先独立写作再看范文。文章是杂志 article，无需邮件称呼署名。地点不必著名，但必须符合当地范围。不要只介绍设施而漏掉个人原因、习惯时间和其他人是否喜欢。其他人的受欢迎情况可用经常看到的人与活动支持，不要求虚构调查数字。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正文100词，不含标题。四次单击分别介绍图书馆及位置、喜欢原因与阅读和人员服务细节、周五放学后习惯、受欢迎判断及看到的阅读和作业活动。最后一句是个人整体感受。</a:t>
            </a:r>
          </a:p>
          <a:p>
            <a:r>
              <a:t>这是一篇课堂示例，不是对某个具体公共图书馆的事实报道。学生可选其他当地地点、不同时间和不同受欢迎程度。原题不要求每段固定几句，按内容自然组织即可。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Microsoft YaHei"/>
          <a:ea typeface="Microsoft YaHei"/>
          <a:cs typeface="Microsoft YaHei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Microsoft YaHei"/>
          <a:ea typeface="Microsoft YaHei"/>
          <a:cs typeface="Microsoft YaHei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PET Writing: Article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学习目标｜介绍当地一个喜欢的地方，写清原因、到访时间和受欢迎情况。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ARTICLE  ·  A PLACE I LIKE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10698480" cy="77724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8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A place I really like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54680"/>
            <a:ext cx="1051560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选一个当地地点 → 喜欢的理由与细节 → 时间 → 他人的使用情况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434840"/>
            <a:ext cx="2743200" cy="758952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0160">
            <a:solidFill>
              <a:srgbClr val="CB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4526280"/>
            <a:ext cx="2587752" cy="54864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About 100 words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4480560"/>
            <a:ext cx="7315200" cy="676656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ONE LOCAL PLACE  ·  WHY?  ·  WHEN?  ·  OTHERS?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1. Read the 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审题｜读原题，找出地点范围和三个直接提问。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ARTICLE  ·  A PLACE I LIKE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27632"/>
            <a:ext cx="10607040" cy="54864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Articles wanted!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87168"/>
            <a:ext cx="10424160" cy="96926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415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Tell us about a place that you really like in the area where you live.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03320"/>
            <a:ext cx="10424160" cy="114300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294"/>
              </a:lnSpc>
              <a:spcBef>
                <a:spcPts val="0"/>
              </a:spcBef>
              <a:spcAft>
                <a:spcPts val="0"/>
              </a:spcAft>
            </a:pPr>
            <a:r>
              <a:rPr sz="27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Why do you like it? When do you go there?</a:t>
            </a:r>
          </a:p>
          <a:p>
            <a:pPr>
              <a:lnSpc>
                <a:spcPts val="3294"/>
              </a:lnSpc>
              <a:spcBef>
                <a:spcPts val="0"/>
              </a:spcBef>
              <a:spcAft>
                <a:spcPts val="0"/>
              </a:spcAft>
            </a:pPr>
            <a:r>
              <a:rPr sz="27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Is this place popular with other people too?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175504"/>
            <a:ext cx="10424160" cy="822960"/>
          </a:xfrm>
          <a:prstGeom prst="rect">
            <a:avLst/>
          </a:prstGeom>
          <a:noFill/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We'll publish the most interesting article answering these questions from each country!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6035040"/>
            <a:ext cx="10424160" cy="29260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Write your article. About 100 words.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2. What must we include?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审题拆解｜四项内容逐一回应，先说想法再单击核对。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ARTICLE  ·  A PLACE I LIKE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2377440" cy="804672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PLACE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664208"/>
            <a:ext cx="7955279" cy="804672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ONE place in the area where you live.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88336"/>
            <a:ext cx="2377440" cy="804672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WHY?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688336"/>
            <a:ext cx="7955279" cy="804672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Your reason + a specific activity or detail.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712463"/>
            <a:ext cx="2377440" cy="804672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WHEN?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712463"/>
            <a:ext cx="7955279" cy="804672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When you usually go there.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736592"/>
            <a:ext cx="2377440" cy="804672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OTHERS?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4736592"/>
            <a:ext cx="7955279" cy="804672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Is it popular? What do you notice there?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879592"/>
            <a:ext cx="10424160" cy="45720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写“我喜欢”也要回应“其他人是否喜欢”；两者不能互相代替。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  <p:bldP spid="15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3. Brainstorm: look and say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看图回顾｜先说地点，再单击显示名称；哪个地方在你居住的地区？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ARTICLE  ·  A PLACE I LIKE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53896"/>
            <a:ext cx="10515600" cy="50292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What can people do in each place?</a:t>
            </a:r>
          </a:p>
        </p:txBody>
      </p:sp>
      <p:pic>
        <p:nvPicPr>
          <p:cNvPr id="9" name="Picture 8" descr="local_pl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984248"/>
            <a:ext cx="10698480" cy="3566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9808" y="5687568"/>
            <a:ext cx="2674620" cy="502920"/>
          </a:xfrm>
          <a:prstGeom prst="rect">
            <a:avLst/>
          </a:prstGeom>
          <a:solidFill>
            <a:srgbClr val="EEF5FB"/>
          </a:solidFill>
        </p:spPr>
        <p:txBody>
          <a:bodyPr wrap="square" lIns="18288" rIns="18288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a park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4427" y="5687568"/>
            <a:ext cx="2674620" cy="502920"/>
          </a:xfrm>
          <a:prstGeom prst="rect">
            <a:avLst/>
          </a:prstGeom>
          <a:solidFill>
            <a:srgbClr val="EEF5FB"/>
          </a:solidFill>
        </p:spPr>
        <p:txBody>
          <a:bodyPr wrap="square" lIns="18288" rIns="18288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a library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8" y="5687568"/>
            <a:ext cx="2674620" cy="502920"/>
          </a:xfrm>
          <a:prstGeom prst="rect">
            <a:avLst/>
          </a:prstGeom>
          <a:solidFill>
            <a:srgbClr val="EEF5FB"/>
          </a:solidFill>
        </p:spPr>
        <p:txBody>
          <a:bodyPr wrap="square" lIns="18288" rIns="18288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a sports centre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3667" y="5687568"/>
            <a:ext cx="2674620" cy="502920"/>
          </a:xfrm>
          <a:prstGeom prst="rect">
            <a:avLst/>
          </a:prstGeom>
          <a:solidFill>
            <a:srgbClr val="EEF5FB"/>
          </a:solidFill>
        </p:spPr>
        <p:txBody>
          <a:bodyPr wrap="square" lIns="18288" rIns="18288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a café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4. Make the place clear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地点选择｜选一个熟悉的当地地点，用名称或位置让读者知道是哪一个。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ARTICLE  ·  A PLACE I LIKE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2971800" cy="5943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Type of place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1645920"/>
            <a:ext cx="7360920" cy="5943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 clear local description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2971800" cy="859536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a park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2487168"/>
            <a:ext cx="7360920" cy="859536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Green Park, a short walk from my home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56432"/>
            <a:ext cx="2971800" cy="859536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a library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3456432"/>
            <a:ext cx="7360920" cy="859536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the public library near my home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425696"/>
            <a:ext cx="2971800" cy="859536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a sports centre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4425696"/>
            <a:ext cx="7360920" cy="859536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the sports centre opposite my school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852160"/>
            <a:ext cx="10424160" cy="50292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以上是不同选择；你的文章始终围绕其中一个或自己熟悉的地点。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5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5. Why do YOU like 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原因展开｜不要停在 nice / good，用自己在那里的活动支持感受。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ARTICLE  ·  A PLACE I LIKE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4754880" cy="5943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Your reason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1645920"/>
            <a:ext cx="5577840" cy="5943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 specific supporting detail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68880"/>
            <a:ext cx="4754880" cy="105156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172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It's relaxing.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468880"/>
            <a:ext cx="5577840" cy="1051560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read under the trees after a busy school day.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931920"/>
            <a:ext cx="4754880" cy="105156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172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It's a good place to learn.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3931920"/>
            <a:ext cx="5577840" cy="1051560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find books about space and ask the librarian for help.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815584"/>
            <a:ext cx="10424160" cy="530352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公园例子解释放松；图书馆例子解释学习。选与你的地点一致的细节。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6. When do you go there?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到访时间｜写平时的习惯，给出一个清楚的时间表达即可。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ARTICLE  ·  A PLACE I LIKE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1691640" cy="5943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45920"/>
            <a:ext cx="8641080" cy="5943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 sentence about your routine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1691640" cy="82296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周末上午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2514600"/>
            <a:ext cx="8641080" cy="82296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usually go there on Saturday mornings.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56432"/>
            <a:ext cx="1691640" cy="82296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放学后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3456432"/>
            <a:ext cx="8641080" cy="82296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go there after school on Fridays.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98264"/>
            <a:ext cx="1691640" cy="82296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学校假期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4398264"/>
            <a:ext cx="8641080" cy="82296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often visit during the school holidays.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852160"/>
            <a:ext cx="10424160" cy="50292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通常用一般现在时；具体星期前用 on，after school 前不加 in。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5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7. Is it popular with other people?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他人使用情况｜判断可以不同，用经常观察到的人和活动支持。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ARTICLE  ·  A PLACE I LIKE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5120640" cy="5943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YES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645920"/>
            <a:ext cx="5212080" cy="5943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NOT 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5120640" cy="96012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172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It is popular with families.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487168"/>
            <a:ext cx="5120640" cy="96012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172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It doesn't seem very popular.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822191"/>
            <a:ext cx="5120640" cy="1234440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often see parents and children having picnics.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3822191"/>
            <a:ext cx="5120640" cy="1234440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usually see only a few visitors when I go.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815584"/>
            <a:ext cx="10424160" cy="530352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安静的时段不等于一直不受欢迎；如果知道时段差异，可以写清楚。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8. Useful language for this article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词汇回顾｜先尝试表达，再单击回顾地点、时间和受欢迎情况的搭配。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ARTICLE  ·  A PLACE I LIKE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27632"/>
            <a:ext cx="5029200" cy="5943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Place and activities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1627632"/>
            <a:ext cx="5257800" cy="5943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Time and other visitors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50592"/>
            <a:ext cx="5029200" cy="93268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in the area where I live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在我居住的地区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75304"/>
            <a:ext cx="5029200" cy="93268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a short walk from my home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从我家步行不远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700016"/>
            <a:ext cx="5029200" cy="93268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go for a walk / borrow books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散步／借书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2450592"/>
            <a:ext cx="5029200" cy="93268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on Saturday mornings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在每周六上午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3575304"/>
            <a:ext cx="5029200" cy="93268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be popular with families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受家庭欢迎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4700016"/>
            <a:ext cx="5029200" cy="93268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be busy at weekends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周末很热闹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9. Link reasons, details and contrasts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连接词用法｜根据文章的实际关系连接原因、例子、补充和时段对比。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ARTICLE  ·  A PLACE I LIKE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1828800" cy="576072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27632"/>
            <a:ext cx="2788920" cy="576072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Linker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627632"/>
            <a:ext cx="5760720" cy="576072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59152"/>
            <a:ext cx="182880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原因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359152"/>
            <a:ext cx="278892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56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because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359152"/>
            <a:ext cx="576072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like the park because</a:t>
            </a:r>
          </a:p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can relax there.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18688"/>
            <a:ext cx="182880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举例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3218688"/>
            <a:ext cx="278892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56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for example /</a:t>
            </a:r>
          </a:p>
          <a:p>
            <a:pPr>
              <a:lnSpc>
                <a:spcPts val="256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for instance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3218688"/>
            <a:ext cx="576072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For example, I can read</a:t>
            </a:r>
          </a:p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under the trees.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078224"/>
            <a:ext cx="182880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补充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4078224"/>
            <a:ext cx="278892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56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also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4078224"/>
            <a:ext cx="576072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also take a book</a:t>
            </a:r>
          </a:p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and read on a bench.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937760"/>
            <a:ext cx="182880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转折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4937760"/>
            <a:ext cx="278892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56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however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4937760"/>
            <a:ext cx="576072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It is quiet early in the morning.</a:t>
            </a:r>
          </a:p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However, it gets busy later.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952744"/>
            <a:ext cx="10607040" cy="393192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for example / for instance 可互换；只有需要对比时才用 however。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 animBg="1"/>
      <p:bldP spid="19" grpId="0" animBg="1"/>
      <p:bldP spid="22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10. Linking words: fill in the blanks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连接词练习｜先完整读文，词语可重复；举例表达可以互换。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362456"/>
            <a:ext cx="10835640" cy="859536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0160">
            <a:solidFill>
              <a:srgbClr val="367D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80744"/>
            <a:ext cx="10616184" cy="82296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7365D"/>
                </a:solidFill>
                <a:latin typeface="Microsoft YaHei"/>
                <a:ea typeface="Microsoft YaHei"/>
                <a:cs typeface="Microsoft YaHei"/>
              </a:rPr>
              <a:t>also  ·  because  ·  however</a:t>
            </a:r>
          </a:p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7365D"/>
                </a:solidFill>
                <a:latin typeface="Microsoft YaHei"/>
                <a:ea typeface="Microsoft YaHei"/>
                <a:cs typeface="Microsoft YaHei"/>
              </a:rPr>
              <a:t>for example  ·  for instance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286000"/>
            <a:ext cx="10698480" cy="36576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My favourite local park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79776"/>
            <a:ext cx="9540222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Do you need somewhere to relax? My favourite local place is Green Park,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59252"/>
            <a:ext cx="3724078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a short walk from my home.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38728"/>
            <a:ext cx="1045940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I love it 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68316" y="3877056"/>
            <a:ext cx="1289304" cy="0"/>
          </a:xfrm>
          <a:prstGeom prst="line">
            <a:avLst/>
          </a:prstGeom>
          <a:ln w="1016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" name="Group 11"/>
          <p:cNvGrpSpPr/>
          <p:nvPr/>
        </p:nvGrpSpPr>
        <p:grpSpPr>
          <a:xfrm>
            <a:off x="1750028" y="3538728"/>
            <a:ext cx="1325880" cy="370332"/>
            <a:chOff x="1750028" y="3538728"/>
            <a:chExt cx="1325880" cy="370332"/>
          </a:xfrm>
        </p:grpSpPr>
        <p:sp>
          <p:nvSpPr>
            <p:cNvPr id="13" name="Rounded Rectangle 12"/>
            <p:cNvSpPr/>
            <p:nvPr/>
          </p:nvSpPr>
          <p:spPr>
            <a:xfrm>
              <a:off x="1750028" y="3543300"/>
              <a:ext cx="1325880" cy="361188"/>
            </a:xfrm>
            <a:prstGeom prst="roundRect">
              <a:avLst>
                <a:gd name="adj" fmla="val 8000"/>
              </a:avLst>
            </a:prstGeom>
            <a:solidFill>
              <a:srgbClr val="718B2E"/>
            </a:solidFill>
            <a:ln w="10160">
              <a:solidFill>
                <a:srgbClr val="6B9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759172" y="3538728"/>
              <a:ext cx="1307592" cy="370332"/>
            </a:xfrm>
            <a:prstGeom prst="rect">
              <a:avLst/>
            </a:prstGeom>
            <a:noFill/>
          </p:spPr>
          <p:txBody>
            <a:bodyPr wrap="square" lIns="0" rIns="0" anchor="ctr" tIns="0" bIns="0">
              <a:spAutoFit/>
            </a:bodyPr>
            <a:lstStyle/>
            <a:p>
              <a:pPr algn="ctr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>
                  <a:solidFill>
                    <a:srgbClr val="FFFF00"/>
                  </a:solidFill>
                  <a:latin typeface="Microsoft YaHei"/>
                  <a:ea typeface="Microsoft YaHei"/>
                  <a:cs typeface="Microsoft YaHei"/>
                </a:rPr>
                <a:t>because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075908" y="3538728"/>
            <a:ext cx="6127804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 there is plenty of space to enjoy the outdoors.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49808" y="4256532"/>
            <a:ext cx="1837943" cy="0"/>
          </a:xfrm>
          <a:prstGeom prst="line">
            <a:avLst/>
          </a:prstGeom>
          <a:ln w="1016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" name="Group 16"/>
          <p:cNvGrpSpPr/>
          <p:nvPr/>
        </p:nvGrpSpPr>
        <p:grpSpPr>
          <a:xfrm>
            <a:off x="731520" y="3918204"/>
            <a:ext cx="1874519" cy="370332"/>
            <a:chOff x="731520" y="3918204"/>
            <a:chExt cx="1874519" cy="370332"/>
          </a:xfrm>
        </p:grpSpPr>
        <p:sp>
          <p:nvSpPr>
            <p:cNvPr id="18" name="Rounded Rectangle 17"/>
            <p:cNvSpPr/>
            <p:nvPr/>
          </p:nvSpPr>
          <p:spPr>
            <a:xfrm>
              <a:off x="731520" y="3922776"/>
              <a:ext cx="1874519" cy="361188"/>
            </a:xfrm>
            <a:prstGeom prst="roundRect">
              <a:avLst>
                <a:gd name="adj" fmla="val 8000"/>
              </a:avLst>
            </a:prstGeom>
            <a:solidFill>
              <a:srgbClr val="718B2E"/>
            </a:solidFill>
            <a:ln w="10160">
              <a:solidFill>
                <a:srgbClr val="6B9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40664" y="3918204"/>
              <a:ext cx="1856231" cy="370332"/>
            </a:xfrm>
            <a:prstGeom prst="rect">
              <a:avLst/>
            </a:prstGeom>
            <a:noFill/>
          </p:spPr>
          <p:txBody>
            <a:bodyPr wrap="square" lIns="0" rIns="0" anchor="ctr" tIns="0" bIns="0">
              <a:spAutoFit/>
            </a:bodyPr>
            <a:lstStyle/>
            <a:p>
              <a:pPr algn="ctr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>
                  <a:solidFill>
                    <a:srgbClr val="FFFF00"/>
                  </a:solidFill>
                  <a:latin typeface="Microsoft YaHei"/>
                  <a:ea typeface="Microsoft YaHei"/>
                  <a:cs typeface="Microsoft YaHei"/>
                </a:rPr>
                <a:t>For example</a:t>
              </a: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2606039" y="3918204"/>
            <a:ext cx="7908422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, I can walk along the paths and watch the birds in the trees.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297680"/>
            <a:ext cx="174783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I 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97159" y="4636008"/>
            <a:ext cx="740664" cy="0"/>
          </a:xfrm>
          <a:prstGeom prst="line">
            <a:avLst/>
          </a:prstGeom>
          <a:ln w="1016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Group 22"/>
          <p:cNvGrpSpPr/>
          <p:nvPr/>
        </p:nvGrpSpPr>
        <p:grpSpPr>
          <a:xfrm>
            <a:off x="878871" y="4297680"/>
            <a:ext cx="777240" cy="370332"/>
            <a:chOff x="878871" y="4297680"/>
            <a:chExt cx="777240" cy="370332"/>
          </a:xfrm>
        </p:grpSpPr>
        <p:sp>
          <p:nvSpPr>
            <p:cNvPr id="24" name="Rounded Rectangle 23"/>
            <p:cNvSpPr/>
            <p:nvPr/>
          </p:nvSpPr>
          <p:spPr>
            <a:xfrm>
              <a:off x="878871" y="4302252"/>
              <a:ext cx="777240" cy="361188"/>
            </a:xfrm>
            <a:prstGeom prst="roundRect">
              <a:avLst>
                <a:gd name="adj" fmla="val 8000"/>
              </a:avLst>
            </a:prstGeom>
            <a:solidFill>
              <a:srgbClr val="718B2E"/>
            </a:solidFill>
            <a:ln w="10160">
              <a:solidFill>
                <a:srgbClr val="6B9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88015" y="4297680"/>
              <a:ext cx="758952" cy="370332"/>
            </a:xfrm>
            <a:prstGeom prst="rect">
              <a:avLst/>
            </a:prstGeom>
            <a:noFill/>
          </p:spPr>
          <p:txBody>
            <a:bodyPr wrap="square" lIns="0" rIns="0" anchor="ctr" tIns="0" bIns="0">
              <a:spAutoFit/>
            </a:bodyPr>
            <a:lstStyle/>
            <a:p>
              <a:pPr algn="ctr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>
                  <a:solidFill>
                    <a:srgbClr val="FFFF00"/>
                  </a:solidFill>
                  <a:latin typeface="Microsoft YaHei"/>
                  <a:ea typeface="Microsoft YaHei"/>
                  <a:cs typeface="Microsoft YaHei"/>
                </a:rPr>
                <a:t>also</a:t>
              </a: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1656111" y="4297680"/>
            <a:ext cx="4469591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 take a book and read on a bench.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677156"/>
            <a:ext cx="8409226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I usually go there on Saturday mornings with my younger sister.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56631"/>
            <a:ext cx="4124893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It is quiet early in the morning. 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847269" y="5394959"/>
            <a:ext cx="1426464" cy="0"/>
          </a:xfrm>
          <a:prstGeom prst="line">
            <a:avLst/>
          </a:prstGeom>
          <a:ln w="1016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Group 29"/>
          <p:cNvGrpSpPr/>
          <p:nvPr/>
        </p:nvGrpSpPr>
        <p:grpSpPr>
          <a:xfrm>
            <a:off x="4828981" y="5056631"/>
            <a:ext cx="1463040" cy="370332"/>
            <a:chOff x="4828981" y="5056631"/>
            <a:chExt cx="1463040" cy="370332"/>
          </a:xfrm>
        </p:grpSpPr>
        <p:sp>
          <p:nvSpPr>
            <p:cNvPr id="31" name="Rounded Rectangle 30"/>
            <p:cNvSpPr/>
            <p:nvPr/>
          </p:nvSpPr>
          <p:spPr>
            <a:xfrm>
              <a:off x="4828981" y="5061203"/>
              <a:ext cx="1463040" cy="361188"/>
            </a:xfrm>
            <a:prstGeom prst="roundRect">
              <a:avLst>
                <a:gd name="adj" fmla="val 8000"/>
              </a:avLst>
            </a:prstGeom>
            <a:solidFill>
              <a:srgbClr val="718B2E"/>
            </a:solidFill>
            <a:ln w="10160">
              <a:solidFill>
                <a:srgbClr val="6B9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838125" y="5056631"/>
              <a:ext cx="1444752" cy="370332"/>
            </a:xfrm>
            <a:prstGeom prst="rect">
              <a:avLst/>
            </a:prstGeom>
            <a:noFill/>
          </p:spPr>
          <p:txBody>
            <a:bodyPr wrap="square" lIns="0" rIns="0" anchor="ctr" tIns="0" bIns="0">
              <a:spAutoFit/>
            </a:bodyPr>
            <a:lstStyle/>
            <a:p>
              <a:pPr algn="ctr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>
                  <a:solidFill>
                    <a:srgbClr val="FFFF00"/>
                  </a:solidFill>
                  <a:latin typeface="Microsoft YaHei"/>
                  <a:ea typeface="Microsoft YaHei"/>
                  <a:cs typeface="Microsoft YaHei"/>
                </a:rPr>
                <a:t>However</a:t>
              </a: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6292021" y="5056631"/>
            <a:ext cx="2397811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, it gets busy later.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436108"/>
            <a:ext cx="4402493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The park is popular with families 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124869" y="5774436"/>
            <a:ext cx="1289304" cy="0"/>
          </a:xfrm>
          <a:prstGeom prst="line">
            <a:avLst/>
          </a:prstGeom>
          <a:ln w="1016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6" name="Group 35"/>
          <p:cNvGrpSpPr/>
          <p:nvPr/>
        </p:nvGrpSpPr>
        <p:grpSpPr>
          <a:xfrm>
            <a:off x="5106581" y="5436108"/>
            <a:ext cx="1325880" cy="370332"/>
            <a:chOff x="5106581" y="5436108"/>
            <a:chExt cx="1325880" cy="370332"/>
          </a:xfrm>
        </p:grpSpPr>
        <p:sp>
          <p:nvSpPr>
            <p:cNvPr id="37" name="Rounded Rectangle 36"/>
            <p:cNvSpPr/>
            <p:nvPr/>
          </p:nvSpPr>
          <p:spPr>
            <a:xfrm>
              <a:off x="5106581" y="5440680"/>
              <a:ext cx="1325880" cy="361188"/>
            </a:xfrm>
            <a:prstGeom prst="roundRect">
              <a:avLst>
                <a:gd name="adj" fmla="val 8000"/>
              </a:avLst>
            </a:prstGeom>
            <a:solidFill>
              <a:srgbClr val="718B2E"/>
            </a:solidFill>
            <a:ln w="10160">
              <a:solidFill>
                <a:srgbClr val="6B9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5115725" y="5436108"/>
              <a:ext cx="1307592" cy="370332"/>
            </a:xfrm>
            <a:prstGeom prst="rect">
              <a:avLst/>
            </a:prstGeom>
            <a:noFill/>
          </p:spPr>
          <p:txBody>
            <a:bodyPr wrap="square" lIns="0" rIns="0" anchor="ctr" tIns="0" bIns="0">
              <a:spAutoFit/>
            </a:bodyPr>
            <a:lstStyle/>
            <a:p>
              <a:pPr algn="ctr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>
                  <a:solidFill>
                    <a:srgbClr val="FFFF00"/>
                  </a:solidFill>
                  <a:latin typeface="Microsoft YaHei"/>
                  <a:ea typeface="Microsoft YaHei"/>
                  <a:cs typeface="Microsoft YaHei"/>
                </a:rPr>
                <a:t>because</a:t>
              </a: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6432461" y="5436108"/>
            <a:ext cx="4025866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 children can play there safely.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815583"/>
            <a:ext cx="6226781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I often see parents and children having picnics.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" y="6492240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6583680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ARTICLE  ·  A PLACE I LIKE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45952" y="6547104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7" grpId="0" animBg="1"/>
      <p:bldP spid="23" grpId="0" animBg="1"/>
      <p:bldP spid="30" grpId="0" animBg="1"/>
      <p:bldP spid="36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11. Plan YOUR article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内容构思｜用自己的地点、活动、时间和观察完成计划。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ARTICLE  ·  A PLACE I LIKE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2286000" cy="841248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PLACE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664208"/>
            <a:ext cx="8046720" cy="84124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Which local place? Where is it?</a:t>
            </a:r>
          </a:p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____________________________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88336"/>
            <a:ext cx="2286000" cy="841248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WHY?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688336"/>
            <a:ext cx="8046720" cy="84124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Your reason + a supporting activity or detail:</a:t>
            </a:r>
          </a:p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____________________________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712463"/>
            <a:ext cx="2286000" cy="841248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WHEN?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712463"/>
            <a:ext cx="8046720" cy="84124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When do you usually go?</a:t>
            </a:r>
          </a:p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____________________________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736592"/>
            <a:ext cx="2286000" cy="841248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OTHERS?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4736592"/>
            <a:ext cx="8046720" cy="84124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Your judgement + what you often notice:</a:t>
            </a:r>
          </a:p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____________________________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879592"/>
            <a:ext cx="10424160" cy="45720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不必把地点写得人人都喜欢；让判断与你的观察一致。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12. Article writing scaffold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写作框架｜保留自己的选择，用约100词回应四项内容。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ARTICLE  ·  A PLACE I LIKE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2057400" cy="932688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PLACE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介绍地点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1600200"/>
            <a:ext cx="8275320" cy="93268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My favourite place in my area is __________.</a:t>
            </a:r>
          </a:p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It is near / opposite __________.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06624"/>
            <a:ext cx="2057400" cy="932688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WHY?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原因与细节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706624"/>
            <a:ext cx="8275320" cy="93268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like it because __________.</a:t>
            </a:r>
          </a:p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For example / For instance, I can __________.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813048"/>
            <a:ext cx="2057400" cy="932688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WHEN?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到访时间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3813048"/>
            <a:ext cx="8275320" cy="93268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usually go there __________.</a:t>
            </a:r>
          </a:p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sometimes / often __________.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19472"/>
            <a:ext cx="2057400" cy="10515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OTHERS?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判断与观察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4919472"/>
            <a:ext cx="8275320" cy="105156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It is popular with __________. / It seems __________.</a:t>
            </a:r>
          </a:p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often see __________ there.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  <p:bldP spid="15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13. Write and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独立写作｜写约100词，检查有没有漏掉到访时间或他人使用情况。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ARTICLE  ·  A PLACE I LIKE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941832" y="1847088"/>
            <a:ext cx="27432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367D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1737360"/>
            <a:ext cx="9875520" cy="54864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introduced ONE place in the area where I live.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1832" y="2578608"/>
            <a:ext cx="27432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367D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2468880"/>
            <a:ext cx="9875520" cy="54864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explained WHY I like it, with a specific detail.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1832" y="3310128"/>
            <a:ext cx="27432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367D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3200400"/>
            <a:ext cx="9875520" cy="54864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said WHEN I usually go there.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1832" y="4041648"/>
            <a:ext cx="27432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367D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3931920"/>
            <a:ext cx="9875520" cy="54864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said whether it is popular and gave an observation.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1832" y="4773168"/>
            <a:ext cx="27432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367D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4663440"/>
            <a:ext cx="9875520" cy="54864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My article is clear and about 100 words.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824728"/>
            <a:ext cx="1042416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Write your article. Give it a suitable title.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14. Model article: read after writing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范文回看｜换成图书馆，核对四项任务和支持细节。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ARTICLE  ·  A PLACE I LIKE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81328"/>
            <a:ext cx="10424160" cy="493776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More than a place for books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93976"/>
            <a:ext cx="10424160" cy="77724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 tIns="22860" bIns="22860">
            <a:spAutoFit/>
          </a:bodyPr>
          <a:lstStyle/>
          <a:p>
            <a:pPr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Looking for a quiet place to read? My favourite place in my area is the small public library near my home.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80944"/>
            <a:ext cx="10424160" cy="1188720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 tIns="22860" bIns="22860">
            <a:spAutoFit/>
          </a:bodyPr>
          <a:lstStyle/>
          <a:p>
            <a:pPr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love it because there are books about almost everything. For example, I can borrow exciting stories and learn about space. The staff are also very friendly and always help me choose books.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79392"/>
            <a:ext cx="10424160" cy="585216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 tIns="22860" bIns="22860">
            <a:spAutoFit/>
          </a:bodyPr>
          <a:lstStyle/>
          <a:p>
            <a:pPr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usually visit after school on Fridays and stay for an hour.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974336"/>
            <a:ext cx="10424160" cy="1280160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 tIns="22860" bIns="22860">
            <a:spAutoFit/>
          </a:bodyPr>
          <a:lstStyle/>
          <a:p>
            <a:pPr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It is very popular with other people too. I often see children reading with their parents and students doing homework. To me, it is a welcoming place where everyone can find something really interesting.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Microsoft YaHei"/>
        <a:font script="Hebr" typeface="Microsoft YaHei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Microsoft YaHei"/>
        <a:font script="Uigh" typeface="Microsoft YaHei"/>
        <a:font script="Geor" typeface="Microsoft YaHei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Microsoft YaHei"/>
        <a:font script="Hebr" typeface="Microsoft YaHei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Microsoft YaHei"/>
        <a:font script="Uigh" typeface="Microsoft YaHei"/>
        <a:font script="Geor" typeface="Microsoft Ya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Microsoft YaHei"/>
        <a:font script="Hebr" typeface="Microsoft YaHei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Microsoft YaHei"/>
        <a:font script="Uigh" typeface="Microsoft YaHei"/>
        <a:font script="Geor" typeface="Microsoft YaHei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Microsoft YaHei"/>
        <a:font script="Hebr" typeface="Microsoft YaHei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Microsoft YaHei"/>
        <a:font script="Uigh" typeface="Microsoft YaHei"/>
        <a:font script="Geor" typeface="Microsoft Ya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