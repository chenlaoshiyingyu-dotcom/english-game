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给英语老师 Mrs Hallam 回复邮件；语气礼貌清楚即可，不需要商务信函式语言。截图要求用所有批注，约100词按PET邮件常规安排，不把截图未显示的字数说明当作原题转录。单击显示核心任务。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按截图转录邮件前半段。Good idea! 对应老师打算举办比赛的想法，回复要表明赞同。Explain which is better 对应各年龄段或只让超过15岁的学生参赛，要选择并给理由。over 15 是严格超过15岁，不改成 aged 15 and over。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按截图转录邮件后半段。Tell Mrs Hallam：回答是否同意家长担任评委。Suggest...：给获奖者建议合适奖品。不把任务改成“介绍你准备表演什么”，也不添加报名时间或邀约等原题没有的内容。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四次单击按原题顺序揭晓。Good idea 是表达对举办活动的赞同，单独写 Thanks for your email 不够。年龄问题必须给理由。评委问题先清楚表态；短理由能让观点更有说服力。奖品一种或少量合适建议即可，不规定必须两种。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初始仅显示图片。单击1 sing a song；2 dance；3 play the guitar；4 juggle（抛接球表演）。接受 singing/dancing 等正确说法，再归纳原形搭配。图片与词义分别对应。把这些词用于理解比赛情境和思考合适奖品；写作主要回答四条批注。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先让学生选一边并解释，再分别单击示例。All ages 的理由是让每个人有机会；over 15 的理由是参赛范围较小可能更便于组织。选择没有唯一答案，示例不宣称所有年长学生都比年幼学生更有才华。明确 over 15 不包含刚好15岁。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四次单击：赞同—理由—其他人选—理由。家长有相关经验是可能的合理条件，不声称所有家长都懂所有表演。提出老师作为替代是对 Do you agree 的明确回应；不要把不同意见写成对家长的攻击。judge 是动词，be judges 中 judges 是复数名词。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六次单击，按每行“奖品—用途”揭晓。trophies 奖杯；book vouchers 图书代金券；tickets to a show 演出门票。这里只列可用思路，不假定学校预算，也不要求学生写全三种。说明用途有助于支持建议。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先按四种回应功能逐项显示句型，再单击称呼和收尾，共6次。写给老师可用 Dear Mrs Hallam；自然有礼即可，不需要商业信函格式。Best wishes 适合此类学校邮件。some parents should judge / some parents should be judges 都正确。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四次单击显示例句。because 说明理由；for example/for instance 补充具体例子；also 添加另一点；so 引出结果。musical parents 是对有音乐经验家长的例子，不是所有家长都能评价所有才艺。also 在 would/could 后、实义动词前。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完整邮件填空，按确认的词库和绿底黄字答案卡模板。选择 over 15、同意有经验家长做评委；后面范文展示另一种合理回应，不能把示例当唯一立场。</a:t>
            </a:r>
          </a:p>
          <a:p>
            <a:r>
              <a:t>单击顺序：1 because；2 Also；3 For example；4 so；5 also。第3空接受 For instance。also 可重复使用。</a:t>
            </a:r>
          </a:p>
          <a:p>
            <a:r>
              <a:t>初始卡片隐藏；每次等学生回答再单击。除了连接词，还让学生找到四条批注对应的内容。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半开放构思页，不填入统一立场。老师可以追问：为什么这个年龄范围更好？为什么这些人适合做评委？奖品有什么用？Support 是帮助展开的建议，原题最明确的 Explain 要求在年龄问题上。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四次单击逐块呈现。斜线表示评委立场句型可以选择一种，不抄入作文。关键内容留给学生；不要求 all ages、家长评委或书券成为唯一答案。结尾用自己的名字。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检查问题保持可见。四个内容点与称呼、自然礼貌的结尾一起检查。书写约100词，不为凑词重复题干；写完再看下一页范文。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范文含称呼、收尾和署名约98词。四次单击按 Good idea / Explain / Tell / Suggest 显示回应。</a:t>
            </a:r>
          </a:p>
          <a:p>
            <a:r>
              <a:t>本例选择 all ages，不同于填空页 over 15；本例更希望老师做评委，不同于填空页赞同有经验家长。二者都可合理答题。</a:t>
            </a:r>
          </a:p>
          <a:p>
            <a:r>
              <a:t>奖品例子是书券与小奖杯，不要求两种。学生不应照抄成固定立场。结尾按邮件格式分行呈现，Best wishes 和自己的名字各占一行。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Writing: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学习目标｜礼貌回复老师，写清年龄选择的理由，并提出评委意见和奖品建议。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69848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School talent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赞同想法 → 年龄选择并解释 → 评委意见 → 奖品建议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2743200" cy="758952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526280"/>
            <a:ext cx="2587752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480560"/>
            <a:ext cx="7315200" cy="67665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Reply to Mrs Hallam. Use ALL four notes.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Mrs Hallam's email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审题｜先读比赛想法和年龄问题，再看对应批注。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10607040" cy="58521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From: Mrs Hallam  ·  To: All students  ·  Subject: School talent show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822960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Dear Students,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8321040" cy="146304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I'm planning to organise a school talent competition. Students taking part in the competition can sing, dance, play a musical instrument or perform in some other 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008376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Good idea!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25696"/>
            <a:ext cx="8321040" cy="13716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 talent show could be for students of all ages, or just for students over 15. Which do you think would be better?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553712"/>
            <a:ext cx="1920240" cy="109728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Explain which</a:t>
            </a:r>
          </a:p>
          <a:p>
            <a:pPr algn="ctr"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is better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Read Mrs Hallam's email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审题｜接着读评委和奖品问题，找齐四条内容要求。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8321040" cy="10241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that some parents should judge the competition. Do you agree?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801368"/>
            <a:ext cx="1920240" cy="100584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Tell Mrs</a:t>
            </a:r>
          </a:p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Hallam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8321040" cy="10241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And finally, what prizes do you think the winners should receive?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273552"/>
            <a:ext cx="19202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Suggest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81728"/>
            <a:ext cx="8229600" cy="914400"/>
          </a:xfrm>
          <a:prstGeom prst="rect">
            <a:avLst/>
          </a:prstGeom>
          <a:noFill/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Please reply soon.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Beatrice Hallam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06440"/>
            <a:ext cx="10332720" cy="448056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email to Mrs Hallam using all the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Decode the FOUR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审题拆解｜先说每条批注要完成什么，再单击核对。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Good idea!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64208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Say you like the idea of a talent show.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Explain which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is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51760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Choose all ages OR over 15 and give a reason.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Tell Mrs Hallam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39312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Say whether you agree about parent judges.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468880" cy="8412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Suggest 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626864"/>
            <a:ext cx="7818120" cy="84124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Suggest a suitable prize for the winners.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年龄选择必须解释；评委意见和奖品建议也可补充简短理由。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看图回顾｜先说才艺表演，再单击回顾准确的英文搭配。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1051560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What can students do in a talent show?</a:t>
            </a:r>
          </a:p>
        </p:txBody>
      </p:sp>
      <p:pic>
        <p:nvPicPr>
          <p:cNvPr id="9" name="Picture 8" descr="exec-5e51df71-453d-4339-8e75-a47b754200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84248"/>
            <a:ext cx="1069848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22860" rIns="2286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sing a song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4427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22860" rIns="2286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22860" rIns="2286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play the guitar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3667" y="5687568"/>
            <a:ext cx="2674620" cy="502920"/>
          </a:xfrm>
          <a:prstGeom prst="rect">
            <a:avLst/>
          </a:prstGeom>
          <a:solidFill>
            <a:srgbClr val="EEF5FB"/>
          </a:solidFill>
        </p:spPr>
        <p:txBody>
          <a:bodyPr wrap="square" lIns="22860" rIns="2286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juggle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Choose the age group AND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观点展开｜两种选择都可以，关键是给出与组织比赛有关的理由。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240280" cy="12801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ALL 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83080"/>
            <a:ext cx="8092440" cy="12801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students of all ages because everyone should have a chance to show their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2240280" cy="12801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OVER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611880"/>
            <a:ext cx="8092440" cy="12801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students over 15 because fewer performers would make the show easier to organise.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all ages＝各年龄段学生；over 15＝超过15岁，不含15岁。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Who should judge?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观点展开｜先表明态度，再用具体情况支持，保持礼貌。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Your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5778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possible 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agree that some parents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should be judges.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6888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Parents with experience in music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could give helpful advice.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754880" cy="10515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prefer teachers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as judges.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577840" cy="10515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Some parents' own children</a:t>
            </a:r>
          </a:p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might be taking part.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可以赞同，也可以礼貌地提出其他人选；意见要清楚。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Suggest suitable prizes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奖品建议｜先想奖品，再说明它对获奖者有什么用。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31546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645920"/>
            <a:ext cx="717804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would it be suitable?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154680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trophies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23160"/>
            <a:ext cx="71780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They can remind winners of their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83863"/>
            <a:ext cx="3154680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book vouchers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483863"/>
            <a:ext cx="71780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Winners can choose books they like.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44568"/>
            <a:ext cx="3154680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tickets to a 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544568"/>
            <a:ext cx="7178040" cy="91440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30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Winners can get ideas from other performers.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选合适奖品并说明用途；一种清楚的建议也可以充分展开。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 and a polite 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词汇与语气｜先尝试表达；给老师写邮件要礼貌而清楚。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赞同活动想法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the talent show is a great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年龄选择与理由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0604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... because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评委意见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6616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agree that ... /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prefer ... as judges.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2377440" cy="859536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奖品建议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526280"/>
            <a:ext cx="7955279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 winners could receive ... because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502920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Dear Mrs Hallam,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5696712"/>
            <a:ext cx="5303520" cy="50292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Best wishes, 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Link ideas clearly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连接词用法｜本题主要需要原因、举例、补充和结果。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82880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27632"/>
            <a:ext cx="57607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9152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59152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All ages would be better because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everyone could take part.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musical parents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could give useful advice.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78224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78224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Trophies would also help winners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remember their success.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937760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Book vouchers let winners choose,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 they can get books they like.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52744"/>
            <a:ext cx="1060704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for example / for instance 可互换；also 常放在实义动词前。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fill in the blanks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连接词练习｜按意思选择；词语可重复，举例表达可以互换。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62456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0744"/>
            <a:ext cx="10616184" cy="877824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also  ·  because  ·  so</a:t>
            </a:r>
          </a:p>
          <a:p>
            <a:pPr algn="ctr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65D"/>
                </a:solidFill>
                <a:latin typeface="Microsoft YaHei"/>
                <a:ea typeface="Microsoft YaHei"/>
                <a:cs typeface="Microsoft YaHei"/>
              </a:rPr>
              <a:t>for example  ·  for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32304"/>
            <a:ext cx="228309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Dear Mrs Hallam,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0632"/>
            <a:ext cx="560721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think a school talent show is a great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68906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I'd choose students over 15 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11438" y="3447288"/>
            <a:ext cx="128930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4393150" y="3108960"/>
            <a:ext cx="1325880" cy="370332"/>
            <a:chOff x="4393150" y="3108960"/>
            <a:chExt cx="1325880" cy="370332"/>
          </a:xfrm>
        </p:grpSpPr>
        <p:sp>
          <p:nvSpPr>
            <p:cNvPr id="12" name="Rounded Rectangle 11"/>
            <p:cNvSpPr/>
            <p:nvPr/>
          </p:nvSpPr>
          <p:spPr>
            <a:xfrm>
              <a:off x="4393150" y="3113532"/>
              <a:ext cx="132588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02294" y="3108960"/>
              <a:ext cx="130759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because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719030" y="3108960"/>
            <a:ext cx="407444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fewer performers would make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47288"/>
            <a:ext cx="378034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the show easier to organise. 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02723" y="3785615"/>
            <a:ext cx="9235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4484435" y="3447288"/>
            <a:ext cx="960120" cy="370332"/>
            <a:chOff x="4484435" y="3447288"/>
            <a:chExt cx="960120" cy="370332"/>
          </a:xfrm>
        </p:grpSpPr>
        <p:sp>
          <p:nvSpPr>
            <p:cNvPr id="18" name="Rounded Rectangle 17"/>
            <p:cNvSpPr/>
            <p:nvPr/>
          </p:nvSpPr>
          <p:spPr>
            <a:xfrm>
              <a:off x="4484435" y="3451860"/>
              <a:ext cx="96012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93579" y="3447288"/>
              <a:ext cx="94183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Also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444555" y="3447288"/>
            <a:ext cx="4301189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each act could have more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85616"/>
            <a:ext cx="531504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I agree that some parents should judge. 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7418" y="4123944"/>
            <a:ext cx="183794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6019130" y="3785616"/>
            <a:ext cx="1874519" cy="370332"/>
            <a:chOff x="6019130" y="3785616"/>
            <a:chExt cx="1874519" cy="370332"/>
          </a:xfrm>
        </p:grpSpPr>
        <p:sp>
          <p:nvSpPr>
            <p:cNvPr id="24" name="Rounded Rectangle 23"/>
            <p:cNvSpPr/>
            <p:nvPr/>
          </p:nvSpPr>
          <p:spPr>
            <a:xfrm>
              <a:off x="6019130" y="3790188"/>
              <a:ext cx="1874519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28274" y="3785616"/>
              <a:ext cx="1856231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For example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893650" y="3785616"/>
            <a:ext cx="181812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, parents who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23944"/>
            <a:ext cx="582136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play an instrument could give useful advice.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62272"/>
            <a:ext cx="5545481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The winners could receive book vouchers 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7857" y="4800600"/>
            <a:ext cx="55778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6249569" y="4462272"/>
            <a:ext cx="594360" cy="370332"/>
            <a:chOff x="6249569" y="4462272"/>
            <a:chExt cx="594360" cy="370332"/>
          </a:xfrm>
        </p:grpSpPr>
        <p:sp>
          <p:nvSpPr>
            <p:cNvPr id="31" name="Rounded Rectangle 30"/>
            <p:cNvSpPr/>
            <p:nvPr/>
          </p:nvSpPr>
          <p:spPr>
            <a:xfrm>
              <a:off x="6249569" y="4466844"/>
              <a:ext cx="59436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58713" y="4462272"/>
              <a:ext cx="57607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so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843929" y="4462272"/>
            <a:ext cx="3114835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they can choose books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00600"/>
            <a:ext cx="3405187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they like. Trophies would 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127563" y="5138928"/>
            <a:ext cx="740664" cy="0"/>
          </a:xfrm>
          <a:prstGeom prst="line">
            <a:avLst/>
          </a:prstGeom>
          <a:ln w="1016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4109275" y="4800600"/>
            <a:ext cx="777240" cy="370332"/>
            <a:chOff x="4109275" y="4800600"/>
            <a:chExt cx="777240" cy="370332"/>
          </a:xfrm>
        </p:grpSpPr>
        <p:sp>
          <p:nvSpPr>
            <p:cNvPr id="37" name="Rounded Rectangle 36"/>
            <p:cNvSpPr/>
            <p:nvPr/>
          </p:nvSpPr>
          <p:spPr>
            <a:xfrm>
              <a:off x="4109275" y="4805172"/>
              <a:ext cx="777240" cy="361188"/>
            </a:xfrm>
            <a:prstGeom prst="roundRect">
              <a:avLst>
                <a:gd name="adj" fmla="val 8000"/>
              </a:avLst>
            </a:prstGeom>
            <a:solidFill>
              <a:srgbClr val="718B2E"/>
            </a:solidFill>
            <a:ln w="10160">
              <a:solidFill>
                <a:srgbClr val="6B9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18419" y="4800600"/>
              <a:ext cx="758952" cy="370332"/>
            </a:xfrm>
            <a:prstGeom prst="rect">
              <a:avLst/>
            </a:prstGeom>
            <a:noFill/>
          </p:spPr>
          <p:txBody>
            <a:bodyPr wrap="square" lIns="0" rIns="0" anchor="ctr" tIns="0" bIns="0">
              <a:spAutoFit/>
            </a:bodyPr>
            <a:lstStyle/>
            <a:p>
              <a:pPr algn="ctr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00" b="1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</a:rPr>
                <a:t>also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886515" y="4800600"/>
            <a:ext cx="3986903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 remind them of their success.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138928"/>
            <a:ext cx="4653882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Thank you for organising the show.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477256"/>
            <a:ext cx="1654778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15584"/>
            <a:ext cx="579140" cy="393192"/>
          </a:xfrm>
          <a:prstGeom prst="rect">
            <a:avLst/>
          </a:prstGeom>
          <a:noFill/>
        </p:spPr>
        <p:txBody>
          <a:bodyPr wrap="none" lIns="0" rIns="0" anchor="ctr" tIns="0" bIns="0">
            <a:no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01010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" y="6492240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583680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45952" y="6547104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23" grpId="0" animBg="1"/>
      <p:bldP spid="30" grpId="0" animBg="1"/>
      <p:bldP spid="3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Plan YOUR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内容构思｜自己决定年龄范围、评委人选和合适奖品。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Good idea!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664208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How will you respond positively?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651760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choice: ______  Reason: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Judges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639312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view: ______  Support: 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26864"/>
            <a:ext cx="2240280" cy="8229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4626864"/>
            <a:ext cx="809244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Your prize: ______  Why suitable: 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15584"/>
            <a:ext cx="10424160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年龄选择的理由必须清楚；其余观点也尽量给具体支持。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Email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写作框架｜保留自己的选择和例子，用礼貌的语气回复老师。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2057400" cy="85039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赞同想法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00200"/>
            <a:ext cx="8275320" cy="85039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Dear Mrs Hallam,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__________ is a great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96896"/>
            <a:ext cx="2057400" cy="9144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 GROUP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选择并解释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596896"/>
            <a:ext cx="8275320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__________ because __________.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2057400" cy="102412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JUDGES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评委意见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657600"/>
            <a:ext cx="8275320" cy="10241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agree that __________ / I would prefer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This is because __________.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2057400" cy="125272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PRIZES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奖品与收尾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828032"/>
            <a:ext cx="8275320" cy="12527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 winners could receive __________ because __________.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[your name]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独立写作｜写完邮件后，逐条检查是否回应了老师的问题。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4708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said the talent show is a good idea.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7860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6888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chose ONE age group and explained why.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3101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004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gave my view about parent judges.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04164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suggested a suitable prize for the winners.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7316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6344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My email is polite and about 100 words.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24728"/>
            <a:ext cx="1042416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to Mrs Hallam. Use all four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1115568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email: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范文回看｜对照四条批注，看看年龄理由和评委意见是否清楚。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EMAIL  ·  SCHOOL TALENT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39319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Dear Mrs Hallam,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1042416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think a school talent show is a great idea. It would be a lovely way to celebrate everyone's talents.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52344"/>
            <a:ext cx="10424160" cy="82296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I'd choose students of all ages because everyone should have a chance to show their skills. Younger students could learn from older 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10424160" cy="82296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would prefer teachers as judges because some parents' children might be taking part. They could give useful advice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62856"/>
            <a:ext cx="10424160" cy="85953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 tIns="22860" bIns="2286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 suggest giving the winners book vouchers so they can choose books they like. Small trophies would also help them remember their success.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95544"/>
            <a:ext cx="10424160" cy="868680"/>
          </a:xfrm>
          <a:prstGeom prst="rect">
            <a:avLst/>
          </a:prstGeom>
          <a:noFill/>
        </p:spPr>
        <p:txBody>
          <a:bodyPr wrap="square" lIns="109728" rIns="109728" anchor="ctr" tIns="0" bIns="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Thank you for organising the show.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Best wishes,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