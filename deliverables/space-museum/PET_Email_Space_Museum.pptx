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本题是给英语朋友 Bailey 的邮件，不是给老师的正式回复。约100词按PET邮件常规安排；截图未显示字数，不当成原题转录。单击显示四条批注都要回应。Me too 对应同样高兴，Thank Bailey 对应最后的晚餐邀请，两者不能互相代替。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按截图转录前半段。Me too! 对应 Bailey 很高兴你一起去，回应自己也高兴和期待。Tell Bailey 要在制作火箭模型与试穿太空服之间说明偏好。参观展览是共同安排，不能只说想看展览而省略特别活动选择。简短理由有助于展开，但此处原批注没有额外写 Explain。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按截图转录后半段。My question: ... 要提供一个具体的、可提前发送给博物馆的问题，由宇航员在参观当天回答。不是让学生在回复中编造宇航员的答案。Thank Bailey 指向晚餐邀请，应明确感谢邀请；可以接受或礼貌婉拒，并清楚回应 Would you like...?，原题没有强制拒绝。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四次单击按原题顺序。活动只需选一个，附短理由可使邮件自然。宇航员问题要具体，不只写 I have a question 或 I want to know about space。最后感谢邀请，清楚说明是否参加晚餐；不强迫采用统一立场。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四图是室内展览、桌面制作小火箭模型、博物馆试穿太空服活动、向宇航员提出问题。从左到右先说再单击。火箭模型不是发射真实火箭；试穿活动也不等于真的进入太空或体验失重。最后一图帮助回顾 ask an astronaut，本题实际安排是提前发送问题、当天听回答。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四次单击，选择1→理由1→选择2→理由2。两个活动都可合理选，理由对应喜欢动手制作或好奇穿着感受。不要把 make a model of a rocket 改成 launch a rocket，也不推断可以带模型回家。题目未提供拍照和额外项目，不当作已确定安排。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三次单击。先从主题尝试提出问题再核对，不要求写全部三个。How do you sleep...? 是直接问句，do 在 you 前；What was...training? 用过去时询问已经经历的训练。直接把拟问的问题写在邮件里，例如 My question is: “How do you sleep in space?”，由 Bailey 或双方提交给博物馆。这里不提供科学答案。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三次单击：感谢句→接受→婉拒。两栏是不同候选回答，不一起抄进同一封邮件。原批注 Thank Bailey 没有写 Yes 或 No，不强迫统一选择。若婉拒，可再补一句简短原因，但不要求照抄某个冲突安排。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六次单击：四种功能、称呼、收尾。自然使用缩写，避免过度正式。最后一行的接受只是候选；不想参加也可先感谢再婉拒。实际邮件中称呼单独一行，See you soon 和名字分行。Bailey 的性别在题目未说明，教学中不自行指定。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四次单击。前两行用同一组内容展示原因与结果的不同组织方式，不在同一个因果结构中写 because...so...。举例句前需有一般话题，例如 I want to know about daily life in space，后接具体问题；不把 For example 当作四个内容点之间通用的过渡词。also 通常位于情态动词后、实义动词前。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完整邮件含称呼、收尾和署名100词。四次单击：so / also / For example / because。第3空同样接受 For instance。词库＋完整邮件＋原位绿底黄字答案卡。</a:t>
            </a:r>
          </a:p>
          <a:p>
            <a:r>
              <a:t>本文选择制作模型火箭并询问太空中的饮食；后面范文选择试穿太空服并问训练。晚餐示例接受邀请，学生也可按实际想法感谢并婉拒。连接词空格不是四条批注的一一对应，课后可再找出四项回应。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半开放构思页。学生有自己的活动偏好、理由和一个完整问题。Me too 要回应共同参观的高兴心情，Thank Bailey 要具体感谢晚餐邀请。不给统一太空问题，不要求编写科学解释。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四次单击按批注呈现。方括号是提示，不抄入邮件；最后回应可接受或礼貌婉拒。问题要有完整语序和问号。解释偏好的短理由、提问兴趣都是辅助展开，不要求固定句子长度。称呼、收尾和名字分行。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自查保持可见。批注并未要求活动必须解释，但加简短理由有助于清楚展开；不要把附加建议当新的硬性题点。特别检查是否把问题主题变成完整问题，以及感谢是否对应晚餐邀请。先独立完成再看范文。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含称呼、收尾和署名约99词。四次单击按同样期待、试穿偏好与理由、具体训练问题、感谢并接受晚餐呈现。</a:t>
            </a:r>
          </a:p>
          <a:p>
            <a:r>
              <a:t>本文与填空页活动和问题不同，都是合理示例。imagine being an astronaut 指想象，不声称在博物馆真的进入太空。问题由宇航员回答，邮件没有编造其训练经历。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PET Writing: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学习目标｜友好回应参观计划，选择活动，提出宇航员问题并感谢晚餐邀请。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7772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Space Museum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同样期待 → 活动选择 → 宇航员问题 → 感谢晚餐邀请并回应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34840"/>
            <a:ext cx="2743200" cy="7589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CB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26280"/>
            <a:ext cx="2587752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About 100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480560"/>
            <a:ext cx="7315200" cy="676656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Reply to Bailey. Use ALL four notes.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1. Read Bailey's email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审题｜先读参观计划和特别活动，找出同样期待与活动选择两条批注。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10607040" cy="54864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From: Bailey  ·  Subject: Space Museum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822960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Hi,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8321040" cy="121615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really pleased you're coming to the Space Museum with me and my family next weekend.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834640"/>
            <a:ext cx="19202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Me too!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87952"/>
            <a:ext cx="8321040" cy="16459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As well as seeing the exhibition, we can do a special activity: we can make a model of a rocket, or try on some space suits. Which would you prefer?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526280"/>
            <a:ext cx="1920240" cy="100584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Tell Bailey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2. Read Bailey's email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审题｜问题会提前提交、参观当天回答；最后还要回应晚餐邀请。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8321040" cy="1874519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 real astronaut will be at the museum! We can send a question to the museum in advance and the astronaut will answer it on the day of our visit. Can you think of a good question?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103120"/>
            <a:ext cx="19202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My</a:t>
            </a:r>
          </a:p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question: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8321040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Would you like to have dinner with us afterwards?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931920"/>
            <a:ext cx="19202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Thank Bailey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8229600" cy="777240"/>
          </a:xfrm>
          <a:prstGeom prst="rect">
            <a:avLst/>
          </a:prstGeom>
          <a:noFill/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Let me know!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Bailey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06440"/>
            <a:ext cx="10332720" cy="448056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email to Bailey using all the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3. Decode the FOUR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审题拆解｜先说明每条批注的任务，再单击核对。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 too!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64208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Say you are pleased about the visit too.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Tell Bailey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51760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Choose ONE special activity you would prefer.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My question: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639312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Give a specific question for the astronaut.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26864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Thank Bailey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626864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 Bailey for inviting you to dinner and reply.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“同样期待参观”与“感谢晚餐邀请”各有对应内容，两条都要写。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4. Brainstorm: look and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看图回顾｜先说博物馆中的活动，再单击显示准确搭配。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53896"/>
            <a:ext cx="1051560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What can we do during this museum visit?</a:t>
            </a:r>
          </a:p>
        </p:txBody>
      </p:sp>
      <p:pic>
        <p:nvPicPr>
          <p:cNvPr id="9" name="Picture 8" descr="museum_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84248"/>
            <a:ext cx="106984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see the exhibition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4427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make a model rocket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try on a space suit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3667" y="5650992"/>
            <a:ext cx="2674620" cy="594360"/>
          </a:xfrm>
          <a:prstGeom prst="rect">
            <a:avLst/>
          </a:prstGeom>
          <a:solidFill>
            <a:srgbClr val="EEF5FB"/>
          </a:solidFill>
        </p:spPr>
        <p:txBody>
          <a:bodyPr wrap="square" lIns="18288" r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ask an astronaut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5. Choose a special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活动选择｜说清偏好，再补充一个与体验有关的理由。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7548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Your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645920"/>
            <a:ext cx="55778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specific reason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prefer to make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 model rocket.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6888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enjoy making things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and putting parts together.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rather try on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 space suit.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like to find out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what it feels like to wear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I'd prefer to＋动词原形；I'd rather＋动词原形。选择没有唯一答案。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6. Give the astronaut a clear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宇航员提问｜从感兴趣的主题走向一个能提前提交的完整问题。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05740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45920"/>
            <a:ext cx="827532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question for the astronaut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205740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Sleeping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514600"/>
            <a:ext cx="827532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How do you sleep in space?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47288"/>
            <a:ext cx="205740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Eating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47288"/>
            <a:ext cx="827532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How do you eat when you are in space?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79976"/>
            <a:ext cx="205740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379976"/>
            <a:ext cx="827532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What was the most difficult part of your training?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选一个具体问题即可；注意问句语序和问号，不必替宇航员回答。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7. Thank Bailey for the dinner invitation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晚餐邀请｜先明确感谢邀请，再说明是否参加。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10424160" cy="77724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Would you like to have dinner with us afterwards?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79776"/>
            <a:ext cx="10424160" cy="73152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Thanks for inviting me to dinner.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95344"/>
            <a:ext cx="5120640" cy="54864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895344"/>
            <a:ext cx="5212080" cy="54864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DECLINE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45152"/>
            <a:ext cx="5120640" cy="86868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love to join you!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645152"/>
            <a:ext cx="5212080" cy="86868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sorry, I can't stay</a:t>
            </a:r>
          </a:p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dinner.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两种回应都可以；Thank Bailey 要对应晚餐邀请，不只是感谢来信。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8. Useful language for a friendly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词汇与语气｜先尝试表达；朋友邮件自然、友好，四条回应都要清楚。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同样期待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really pleased too! / I can't wait for our visit.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活动偏好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prefer to ... because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提出问题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56616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My question is: 'How do you ...?'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感谢邀请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52628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Thanks for inviting me to dinner. I'd love to join you.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96712"/>
            <a:ext cx="5029200" cy="50292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Hi Bailey,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696712"/>
            <a:ext cx="5303520" cy="50292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See you soon, [your name]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9. Link choices, reasons and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连接词用法｜本题需要原因、结果、补充和举例，不必强加转折。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82880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27632"/>
            <a:ext cx="27889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27632"/>
            <a:ext cx="57607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59152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59152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the model rocket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because I enjoy making things.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218688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18688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enjoy making things,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 I'd choose the model rocket.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78224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078224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also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078224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 could also help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each other put the parts together.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举例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937760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example /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instance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937760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my question is: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'How do you sleep in space?'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52744"/>
            <a:ext cx="10607040" cy="39319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for example / for instance 可互换；because 与 so 的因果方向不同。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10. Linking words: fill in the blanks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连接词练习｜先完整读信再选择；举例表达可以互换。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62456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0744"/>
            <a:ext cx="10616184" cy="877824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also  ·  because  ·  so</a:t>
            </a:r>
          </a:p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for example  ·  for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32304"/>
            <a:ext cx="126028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Hi Bailey,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0632"/>
            <a:ext cx="9544523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I'm really pleased too! I'm looking forward to visiting the Space Museum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25603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with you and your family next weekend. I enjoy making things with my hands,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3785615"/>
            <a:ext cx="55778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731520" y="3447288"/>
            <a:ext cx="594360" cy="370332"/>
            <a:chOff x="731520" y="3447288"/>
            <a:chExt cx="594360" cy="370332"/>
          </a:xfrm>
        </p:grpSpPr>
        <p:sp>
          <p:nvSpPr>
            <p:cNvPr id="12" name="Rounded Rectangle 11"/>
            <p:cNvSpPr/>
            <p:nvPr/>
          </p:nvSpPr>
          <p:spPr>
            <a:xfrm>
              <a:off x="731520" y="3451860"/>
              <a:ext cx="59436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0664" y="3447288"/>
              <a:ext cx="57607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so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325880" y="3447288"/>
            <a:ext cx="588856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I'd prefer to make a model rocket. We could 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05296" y="3785615"/>
            <a:ext cx="74066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7187008" y="3447288"/>
            <a:ext cx="777240" cy="370332"/>
            <a:chOff x="7187008" y="3447288"/>
            <a:chExt cx="777240" cy="370332"/>
          </a:xfrm>
        </p:grpSpPr>
        <p:sp>
          <p:nvSpPr>
            <p:cNvPr id="17" name="Rounded Rectangle 16"/>
            <p:cNvSpPr/>
            <p:nvPr/>
          </p:nvSpPr>
          <p:spPr>
            <a:xfrm>
              <a:off x="7187008" y="3451860"/>
              <a:ext cx="77724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96152" y="3447288"/>
              <a:ext cx="75895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also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964248" y="3447288"/>
            <a:ext cx="2155784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help each other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85616"/>
            <a:ext cx="337867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put all the parts together.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23944"/>
            <a:ext cx="6060909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want to know more about daily life in space. 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83285" y="4462272"/>
            <a:ext cx="183794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6764997" y="4123944"/>
            <a:ext cx="1874519" cy="370332"/>
            <a:chOff x="6764997" y="4123944"/>
            <a:chExt cx="1874519" cy="370332"/>
          </a:xfrm>
        </p:grpSpPr>
        <p:sp>
          <p:nvSpPr>
            <p:cNvPr id="24" name="Rounded Rectangle 23"/>
            <p:cNvSpPr/>
            <p:nvPr/>
          </p:nvSpPr>
          <p:spPr>
            <a:xfrm>
              <a:off x="6764997" y="4128515"/>
              <a:ext cx="1874519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774141" y="4123944"/>
              <a:ext cx="1856231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For example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8639517" y="4123944"/>
            <a:ext cx="181381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my question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62272"/>
            <a:ext cx="5718134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is: 'How do you eat when you are in space?'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831293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Thanks for inviting me to dinner afterwards. I'd love to join you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9808" y="5477256"/>
            <a:ext cx="128930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731520" y="5138928"/>
            <a:ext cx="1325880" cy="370332"/>
            <a:chOff x="731520" y="5138928"/>
            <a:chExt cx="1325880" cy="370332"/>
          </a:xfrm>
        </p:grpSpPr>
        <p:sp>
          <p:nvSpPr>
            <p:cNvPr id="31" name="Rounded Rectangle 30"/>
            <p:cNvSpPr/>
            <p:nvPr/>
          </p:nvSpPr>
          <p:spPr>
            <a:xfrm>
              <a:off x="731520" y="5143500"/>
              <a:ext cx="132588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40664" y="5138928"/>
              <a:ext cx="130759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because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057400" y="5138928"/>
            <a:ext cx="8605813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we could talk about everything we see and learn at the museum.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77256"/>
            <a:ext cx="1865685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See you soon,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15584"/>
            <a:ext cx="57914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Alex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" y="6492240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83680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45952" y="6547104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23" grpId="0" animBg="1"/>
      <p:bldP spid="3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11. Plan YOUR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内容构思｜自己选择活动、宇航员问题和晚餐回应。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 TOO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1664208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How will you show you are pleased about the visit?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651760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choice: ______  Supporting reason: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3639312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One clear question to send in advance: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26864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4626864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 Bailey for: ______  Your reply: 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问题由你提出，不预填宇航员的答案；活动和晚餐也由你选择。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12. Email writing 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写作框架｜四项内容按自己的想法完成，保留友好的朋友语气。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05740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 TOO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同样期待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00200"/>
            <a:ext cx="827532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Hi Bailey,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really pleased too! I'm looking forward to __________.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057400" cy="95097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ACTIVITY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偏好与理由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06040"/>
            <a:ext cx="8275320" cy="95097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prefer to __________ because __________.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2057400" cy="90525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QUESTION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宇航员问题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703320"/>
            <a:ext cx="8275320" cy="90525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My question is: '__________?'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interested in __________.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2057400" cy="15087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DINNER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感谢与回应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754880"/>
            <a:ext cx="8275320" cy="15087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Thanks for inviting me to dinner. __________.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[Choose: accept OR politely decline.]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See you soon,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[your name]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13. Write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独立写作｜写约100词，逐条核对批注与具体回应。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184708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said I am pleased about the visit too.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257860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46888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chose ONE special activity and gave a clear reason.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331012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20040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wrote ONE specific question for the astronaut.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" y="404164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93192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thanked Bailey for dinner and said whether I can come.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477316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66344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My email is friendly and about 100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24728"/>
            <a:ext cx="1042416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to Bailey. Use all four 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14. Model email: read after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范文回看｜本例选择试穿太空服，并提出一个关于训练的具体问题。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SPACE MUSEUM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424160" cy="39319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Hi Bailey,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10424160" cy="74980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Me too! I can't wait for our visit to the Space Museum next weekend. I really want to see the exhibition.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52928"/>
            <a:ext cx="10424160" cy="1024128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prefer to try on a space suit because I've never worn one before. It would be exciting to see what it feels like. I could imagine being an astronaut.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95928"/>
            <a:ext cx="10424160" cy="74980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the astronaut, my question is: 'What was the most difficult part of your training?' I'm interested in how astronauts prepare for their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82896"/>
            <a:ext cx="10424160" cy="749808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Thanks for inviting me to dinner afterwards. I'd love to stay and spend more time with your family.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60720"/>
            <a:ext cx="10424160" cy="594360"/>
          </a:xfrm>
          <a:prstGeom prst="rect">
            <a:avLst/>
          </a:prstGeom>
          <a:noFill/>
        </p:spPr>
        <p:txBody>
          <a:bodyPr wrap="square" lIns="109728" rIns="109728" anchor="ctr" tIns="0" bIns="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See you soon,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Alex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