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给英语老师 Mr Allen 回复学校新棋社的邮件，使用四条批注。约100词按PET邮件写作常规安排；截图没有显示字数要求，不把它标为原题转录。单击显示核心任务。感谢要对应老师愿意组织棋社，不能只有 Thanks for your email。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按截图转录前半段。Thank Mr Allen 指向他愿意组织棋社；Tell Mr Allen 指向是否同意所有学生都可以参加，而不只限于已经会下棋的人。此处不是让学生报名自己的才艺或说明本人是否会下棋就结束。all students 指校内学生。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按截图转录后半段。Explain：选周末或平日作为棋社活动时间，并给理由。No, because...：拒绝周三放学后留下制作宣传海报，并说明不能来的原因。Wednesday 是海报帮忙的时间，不是题目已确定的棋社活动时间。原题署名 Ken Allen，但回复英语老师用 Dear Mr Allen。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四次单击顺序与批注一致。参加者问题可有自己的意见；短理由有助于展开。活动时间明确要求解释，周三邀约明确要求否定及原因。提出其他可帮忙的时间是可选补充，不能代替说清周三不行的原因。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四图分别是下国际象棋、同伴讲解规则、绘制棋社海报、上钢琴课。先说词再单击。第二图也接受 learn how to play chess；第三图接受 make a poster。钢琴课只是不能周三帮忙的候选原因，不是题目给定的真实安排。图片用于词义回顾，不用于讲解棋局或棋子走法。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观点1→理由1→观点2→理由2。赞同所有学生参加，可以用同伴学习解释；也可礼貌提出先由会下棋的学生起步等不同意见，并说明条件。第二行是条件性建议，不把题目没有提供的缺少帮手当作事实。不要只写 I can play chess，这不能完整回答所有学生是否能参加。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四次单击，选择和理由成对呈现。Friday after school 属于 during the week，Saturday mornings 属于 at weekends。可以选其他合理的平日或周末时间，重点是解释。weekends 不等于全体同学必然有空；第二行表示自己的时间判断，不声称调查结果。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三次单击：明确拒绝周三→具体冲突原因→可选的另一个时间。也可把前两句用 because 连成一句。不要改成 Yes, I can 或只写 Wednesday is not good 而不解释；不能只提出 Thursday 却省去周三不能来的原因。钢琴课、看牙等原因按自己的安排选择。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六次单击：四种回应功能、称呼、收尾。Thank you for 后接名词或动名词，offering to organise 对应老师愿意组织这件事。截图署名 Ken Allen，回复老师仍用 Mr Allen；Best wishes 与自己的名字实际写作时分行。自然有礼即可，不需要商务信函语气。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四次单击。because 用于时间理由和周三冲突原因；for example/for instance 用于说明同伴怎样帮助；so 说明平日在校无需额外往返的结果；also 增加帮助内容。不能在同一因果关系里写 because ... so ...。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完整邮件含称呼、收尾和署名约99词。五次单击：because / For example / so / because / also。第2空也接受 For instance，because 重复使用合理。词库＋完整邮件＋原位绿底黄字答案卡。</a:t>
            </a:r>
          </a:p>
          <a:p>
            <a:r>
              <a:t>本例选择平日周五放学后开棋社；周三因钢琴课不能帮忙。提出周四帮忙和带笔都是可选补充。不要把周五活动时间误读为周三海报任务。先回答再单击。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半开放计划，不预填平日/周末、同意/不同意或固定冲突原因。感谢对应老师愿意开办棋社。参加者立场清楚即可，短理由有助于展开。活动时间理由和周三不能帮忙原因都必须写。Optional offer 可不写，不应为补充建议漏掉原题内容。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四次单击按批注呈现。斜线表示立场句型二选一，不照抄斜线；方括号为可选内容，Optional 和方括号不写进邮件。周三必须按 No,because 回应。Best wishes 和名字在实际写作中各占一行，纸面称呼也另起一行。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自查保持可见。要检查是否只感谢来信而漏了老师组织棋社；是否只说自己会不会下棋而未回答参加者范围；是否给活动时间理由；是否按批注拒绝周三并解释。先写完再看范文。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含称呼、收尾和署名约98词。四次单击按感谢、参加者意见及同伴学习的具体说明、周六上午与理由、周三看牙冲突及可选帮忙时间呈现。填空文选周五，范文选周六，两个立场都可合理答题。</a:t>
            </a:r>
          </a:p>
          <a:p>
            <a:r>
              <a:t>看牙和钢琴课都是写作示例原因，学生根据自己的安排选择。重点是无法帮忙的具体原因，不是固定复述同一个时间表。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PET Writing: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学习目标｜回复棋社安排，感谢老师，表达意见，解释时间选择和无法帮忙的原因。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7772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New chess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感谢 → 参加者意见 → 活动时间与理由 → 拒绝周三帮忙并解释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2743200" cy="7589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CB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26280"/>
            <a:ext cx="2587752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About 100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80560"/>
            <a:ext cx="7315200" cy="67665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Reply to Mr Allen. Use ALL four notes.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1. Read Mr Allen's email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审题｜先读老师的提议和参加者问题，找出感谢与意见两条批注。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10607040" cy="58521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From: Mr Allen  ·  To: All students  ·  Subject: New chess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822960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Dear students,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8321040" cy="13258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Some of you have asked me about starting up a chess club at school. I'm happy to organise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834640"/>
            <a:ext cx="1920240" cy="10058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Thank</a:t>
            </a:r>
          </a:p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Mr Allen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8321040" cy="15087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all students should be able to join the club, not just people who already know how to play chess. Do you agree?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553712"/>
            <a:ext cx="1920240" cy="10058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Tell</a:t>
            </a:r>
          </a:p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Mr Allen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2. Read Mr Allen's email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审题｜分清棋社活动时间与周三制作海报的邀约。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8321040" cy="10058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When would it be better to have this club: at weekends or during the week?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37360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2384"/>
            <a:ext cx="8321040" cy="14630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like some students to design posters to advertise the club. Can you stay after school on Wednesday to help with this?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264408"/>
            <a:ext cx="1920240" cy="10058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No,</a:t>
            </a:r>
          </a:p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because...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01184"/>
            <a:ext cx="8229600" cy="786384"/>
          </a:xfrm>
          <a:prstGeom prst="rect">
            <a:avLst/>
          </a:prstGeom>
          <a:noFill/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Let me know,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Ken Allen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06440"/>
            <a:ext cx="10332720" cy="44805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email to Mr Allen using all the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3. Decode the FOUR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审题拆解｜每条批注完成一个回应功能，按原题顺序逐项核对。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 Mr Allen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64208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 him for offering to organise the club.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Tell Mr Allen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51760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Say whether ALL students should be able to join.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639312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Choose weekends OR during the week and explain why.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No, because...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626864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Say you cannot help on Wednesday and give a reason.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活动时间可自己选择；“周三帮忙”必须按 No, because... 回应。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4. Brainstorm: look and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看图回顾｜先说活动，再单击显示搭配；哪些表达可用于本封回复？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53896"/>
            <a:ext cx="1051560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The club, the posters and a possible timetable clash</a:t>
            </a:r>
          </a:p>
        </p:txBody>
      </p:sp>
      <p:pic>
        <p:nvPicPr>
          <p:cNvPr id="9" name="Picture 8" descr="chess_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84248"/>
            <a:ext cx="106984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play chess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4427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learn the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design posters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3667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have a piano lesson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5. Who should be able to join?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参加者意见｜先明确态度，再用学习机会或组织条件支持。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5778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supporting 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agree that all students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should be able to join.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Beginners can learn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from experienced players.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start with students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who already play.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This may be easier if there are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no helpers for beginners.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不同意见也可礼貌表达；题目没有说缺少帮手，条件用 if 写清楚。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6. Choose a meeting time AND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活动时间｜周末和平日都可选，理由要解释哪种安排更合适。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Your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5778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 would it work?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Friday after school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would be best.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Students are already at school,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 no extra journey is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Saturday mornings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would be better.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would have more time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to play and ask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这里选择棋社的活动时间；不是重新安排周三的海报任务。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7. Say NO politely and give a reason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礼貌拒绝｜先明确周三不能来，再说明原因；其他时间可以补充。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0424160" cy="7772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Can you help with the posters on Wednesday after school?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10424160" cy="7315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I can't stay after school on Wednesday.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10424160" cy="7315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have a piano lesson that I can't miss.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91456"/>
            <a:ext cx="10424160" cy="7315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could help with the posters on Thursday instead.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必须有“不能＋原因”；另约时间是可选补充，不是原题要求。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8. Useful language and a polite 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词汇与语气｜先尝试表达；给老师写清感谢、意见、选择和拒绝。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 you for offering to organise the chess club.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参加者意见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agree that ... / I would prefer ... because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选择活动时间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6616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... would be better because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拒绝并解释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52628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I can't ... because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502920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Dear Mr Allen,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696712"/>
            <a:ext cx="530352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Best wishes, [your name]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9. Link opinions, reasons and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连接词用法｜用原因和具体例子支持意见，也可说明安排的结果。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82880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7889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27632"/>
            <a:ext cx="57607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59152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59152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can't help on Wednesday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because I have a piano lesson.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举例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example /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18688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experienced players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could explain how the pieces move.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78224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78224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are already at school,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 no extra journey is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937760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60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could also bring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some coloured pens.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52744"/>
            <a:ext cx="1060704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举例表达可互换；because 说明原因，so 引出结果。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10. Linking words: fill in the blanks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连接词练习｜完整读信再选择，词语可重复；举例表达可以互换。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62456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0744"/>
            <a:ext cx="10616184" cy="877824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also  ·  because  ·  so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for example  ·  for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4"/>
            <a:ext cx="186361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Dear Mr Allen,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0632"/>
            <a:ext cx="9137889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Thank you for organising the chess club. I'm really looking forward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9060519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learning to play chess. I agree that all students should be able to join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3785615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731520" y="3447288"/>
            <a:ext cx="1325880" cy="370332"/>
            <a:chOff x="731520" y="3447288"/>
            <a:chExt cx="1325880" cy="370332"/>
          </a:xfrm>
        </p:grpSpPr>
        <p:sp>
          <p:nvSpPr>
            <p:cNvPr id="12" name="Rounded Rectangle 11"/>
            <p:cNvSpPr/>
            <p:nvPr/>
          </p:nvSpPr>
          <p:spPr>
            <a:xfrm>
              <a:off x="731520" y="3451860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0664" y="3447288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057400" y="3447288"/>
            <a:ext cx="625623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beginners can learn from experienced players. 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04487" y="3785615"/>
            <a:ext cx="183794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8286199" y="3447288"/>
            <a:ext cx="1874519" cy="370332"/>
            <a:chOff x="8286199" y="3447288"/>
            <a:chExt cx="1874519" cy="370332"/>
          </a:xfrm>
        </p:grpSpPr>
        <p:sp>
          <p:nvSpPr>
            <p:cNvPr id="17" name="Rounded Rectangle 16"/>
            <p:cNvSpPr/>
            <p:nvPr/>
          </p:nvSpPr>
          <p:spPr>
            <a:xfrm>
              <a:off x="8286199" y="3451860"/>
              <a:ext cx="1874519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295343" y="3447288"/>
              <a:ext cx="1856231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For example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160719" y="3447288"/>
            <a:ext cx="10667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85616"/>
            <a:ext cx="969445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older students could show them how the pieces move. I think Friday 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23944"/>
            <a:ext cx="633724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school would be best. We are already at school, 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59620" y="4462272"/>
            <a:ext cx="55778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7041332" y="4123944"/>
            <a:ext cx="594360" cy="370332"/>
            <a:chOff x="7041332" y="4123944"/>
            <a:chExt cx="594360" cy="370332"/>
          </a:xfrm>
        </p:grpSpPr>
        <p:sp>
          <p:nvSpPr>
            <p:cNvPr id="24" name="Rounded Rectangle 23"/>
            <p:cNvSpPr/>
            <p:nvPr/>
          </p:nvSpPr>
          <p:spPr>
            <a:xfrm>
              <a:off x="7041332" y="4128515"/>
              <a:ext cx="59436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050476" y="4123944"/>
              <a:ext cx="57607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so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635692" y="4123944"/>
            <a:ext cx="2613779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we would not need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62272"/>
            <a:ext cx="927567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an extra journey. I'm sorry, I can't help with the posters on Wednesday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9808" y="5138928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731520" y="4800600"/>
            <a:ext cx="1325880" cy="370332"/>
            <a:chOff x="731520" y="4800600"/>
            <a:chExt cx="1325880" cy="370332"/>
          </a:xfrm>
        </p:grpSpPr>
        <p:sp>
          <p:nvSpPr>
            <p:cNvPr id="30" name="Rounded Rectangle 29"/>
            <p:cNvSpPr/>
            <p:nvPr/>
          </p:nvSpPr>
          <p:spPr>
            <a:xfrm>
              <a:off x="731520" y="4805172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40664" y="4800600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057400" y="4800600"/>
            <a:ext cx="736374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I have a piano lesson. I could help on Thursday instead.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38928"/>
            <a:ext cx="98046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could 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02837" y="5477256"/>
            <a:ext cx="7406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1684549" y="5138928"/>
            <a:ext cx="777240" cy="370332"/>
            <a:chOff x="1684549" y="5138928"/>
            <a:chExt cx="777240" cy="370332"/>
          </a:xfrm>
        </p:grpSpPr>
        <p:sp>
          <p:nvSpPr>
            <p:cNvPr id="36" name="Rounded Rectangle 35"/>
            <p:cNvSpPr/>
            <p:nvPr/>
          </p:nvSpPr>
          <p:spPr>
            <a:xfrm>
              <a:off x="1684549" y="5143500"/>
              <a:ext cx="7772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693693" y="5138928"/>
              <a:ext cx="7589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also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2461789" y="5138928"/>
            <a:ext cx="236760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bring some pens.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477256"/>
            <a:ext cx="165477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15584"/>
            <a:ext cx="57914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Alex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" y="6492240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583680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5952" y="6547104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3" grpId="0" animBg="1"/>
      <p:bldP spid="29" grpId="0" animBg="1"/>
      <p:bldP spid="35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11. Plan YOUR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内容构思｜自己决定参加者意见、活动时间和周三不能来的原因。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1664208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What exactly are you thanking Mr Allen for?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651760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view: ______  Supporting detail: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639312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choice: ______  Reason: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 + 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4626864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Wednesday clash: ______  Optional offer: 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原因要能解释自己的选择；不要把活动安排与海报邀约混在一起。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12. Email writing 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写作框架｜保留自己的意见与原因，按四条批注完成回复。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05740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827532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Dear Mr Allen,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 you for offering to 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057400" cy="95097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WHO?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参加者意见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06040"/>
            <a:ext cx="8275320" cy="95097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agree that __________. / I would prefer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This would help because __________.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2057400" cy="90525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WHEN?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时间与理由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703320"/>
            <a:ext cx="8275320" cy="90525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__________ would be better because __________.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2057400" cy="15087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 + WHY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拒绝与解释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754880"/>
            <a:ext cx="8275320" cy="15087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I can't stay on Wednesday because __________.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[Optional: I could help __________ instead.]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[your name]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13. Write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独立写作｜写约100词，逐条核对两种时间和四条批注。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84708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thanked Mr Allen for offering to organise the club.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7860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6888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said whether ALL students should be able to join.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31012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0040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chose a club meeting time AND explained why.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404164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3192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said NO to Wednesday poster help AND gave a reason.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7316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66344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email is polite and about 100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24728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to Mr Allen. Use all four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14. Model email: read after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范文回看｜本例选周末，核对四条批注和周三无法帮忙的原因。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NEW CHESS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Dear Mr Allen,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 you for offering to organise a school chess club. I'm really pleased because I'd love to learn to 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10424160" cy="74980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agree that all students should be able to join. Beginners could learn from more experienced players, who could explain how the pieces move.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Saturday mornings would be better because we would have more time to play and ask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424160" cy="1078992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I can't stay after school on Wednesday to design posters. I have a dentist's appointment that afternoon. I could help on Thursday instead and bring some coloured pens.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10424160" cy="594360"/>
          </a:xfrm>
          <a:prstGeom prst="rect">
            <a:avLst/>
          </a:prstGeom>
          <a:noFill/>
        </p:spPr>
        <p:txBody>
          <a:bodyPr wrap="square" lIns="109728" rIns="109728" anchor="ctr" tIns="0" bIns="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