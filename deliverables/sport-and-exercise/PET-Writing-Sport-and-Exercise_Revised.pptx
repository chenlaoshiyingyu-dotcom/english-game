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621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latin typeface="Microsoft YaHei"/>
        <a:ea typeface="Microsoft YaHei"/>
        <a:cs typeface="Microsoft YaHei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050">
                <a:latin typeface="Microsoft YaHei"/>
                <a:ea typeface="Microsoft YaHei"/>
                <a:cs typeface="Microsoft YaHei"/>
              </a:rPr>
              <a:t>完整文章填空，正文97词，不含标题。先让学生完整阅读并回答，再按文章顺序单击。</a:t>
            </a:r>
          </a:p>
          <a:p>
            <a:r>
              <a:rPr sz="1050">
                <a:latin typeface="Microsoft YaHei"/>
                <a:ea typeface="Microsoft YaHei"/>
                <a:cs typeface="Microsoft YaHei"/>
              </a:rPr>
              <a:t>单击1：such as；单击2：For example（同样接受 For instance）；单击3：Another thing；单击4：Above all。</a:t>
            </a:r>
          </a:p>
          <a:p>
            <a:r>
              <a:rPr sz="1050">
                <a:latin typeface="Microsoft YaHei"/>
                <a:ea typeface="Microsoft YaHei"/>
                <a:cs typeface="Microsoft YaHei"/>
              </a:rPr>
              <a:t>初始答案卡隐藏；每次单击后绿底黄字答案卡在相应空白原位出现。不是自动播放或一开始显示所有答案。</a:t>
            </a:r>
          </a:p>
          <a:p>
            <a:r>
              <a:rPr sz="1050">
                <a:latin typeface="Microsoft YaHei"/>
                <a:ea typeface="Microsoft YaHei"/>
                <a:cs typeface="Microsoft YaHei"/>
              </a:rPr>
              <a:t>such as 后接 football and basketball 两个名词例子。For example 引出当地免费球场和周末游泳课的具体情况，支持足够的判断。</a:t>
            </a:r>
          </a:p>
          <a:p>
            <a:r>
              <a:rPr sz="1050">
                <a:latin typeface="Microsoft YaHei"/>
                <a:ea typeface="Microsoft YaHei"/>
                <a:cs typeface="Microsoft YaHei"/>
              </a:rPr>
              <a:t>Another thing I like ... 是补充观点的完整结构。Above all 强调作者最重视的健康益处，不只是表示最后。</a:t>
            </a:r>
          </a:p>
          <a:p>
            <a:r>
              <a:rPr sz="1050">
                <a:latin typeface="Microsoft YaHei"/>
                <a:ea typeface="Microsoft YaHei"/>
                <a:cs typeface="Microsoft YaHei"/>
              </a:rPr>
              <a:t>本文只是示例：先判断当地活动足够并给证据，再说明运动的重要性。学生保留自己的当地情况和判断。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0ECC518-C9F0-416B-88AB-A9322B0A8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93EE06B-5EEA-4D75-8FA0-77A8702AD6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7F833985-8059-4895-985A-F55D4B297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E8ABA60-E750-4D73-BAF7-69333E5BE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2310E5B-3D39-4A0C-B687-6F1068B880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3671E656-98A2-4F90-877E-E8B0FCB9C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A830F71-3E36-4824-AEE2-1F2680614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FBC82F95-614A-4DC4-B7BC-7AE5AD57767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A17F5E1-8256-461B-92E9-A81D912C4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2781C172-C519-456B-B229-93E5227B0B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0">
            <a:extLst>
              <a:ext uri="{FF2B5EF4-FFF2-40B4-BE49-F238E27FC236}">
                <a16:creationId xmlns:a16="http://schemas.microsoft.com/office/drawing/2014/main" id="{EE7EFC7C-5728-48ED-970A-0345CD17360F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10953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85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rPr>
              <a:t>1. Read the task</a:t>
            </a:r>
          </a:p>
        </p:txBody>
      </p:sp>
      <p:sp>
        <p:nvSpPr>
          <p:cNvPr id="2" name="static_1">
            <a:extLst>
              <a:ext uri="{FF2B5EF4-FFF2-40B4-BE49-F238E27FC236}">
                <a16:creationId xmlns:a16="http://schemas.microsoft.com/office/drawing/2014/main" id="{C928BA33-742C-4BE1-8D22-16BF9804A878}"/>
              </a:ext>
            </a:extLst>
          </p:cNvPr>
          <p:cNvSpPr>
            <a:spLocks noGrp="1"/>
          </p:cNvSpPr>
          <p:nvPr/>
        </p:nvSpPr>
        <p:spPr>
          <a:xfrm>
            <a:off x="571500" y="1000125"/>
            <a:ext cx="10953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 err="1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rPr>
              <a:t>先不急着写：找出两个问题，特别注意</a:t>
            </a:r>
            <a:r>
              <a:rPr sz="1800" b="0" dirty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rPr>
              <a:t> enough 和 Why。</a:t>
            </a:r>
          </a:p>
        </p:txBody>
      </p:sp>
      <p:sp>
        <p:nvSpPr>
          <p:cNvPr id="3" name="static_2">
            <a:extLst>
              <a:ext uri="{FF2B5EF4-FFF2-40B4-BE49-F238E27FC236}">
                <a16:creationId xmlns:a16="http://schemas.microsoft.com/office/drawing/2014/main" id="{AB8CC597-C85A-451D-AF26-DFB0123B4592}"/>
              </a:ext>
            </a:extLst>
          </p:cNvPr>
          <p:cNvSpPr>
            <a:spLocks noGrp="1"/>
          </p:cNvSpPr>
          <p:nvPr/>
        </p:nvSpPr>
        <p:spPr>
          <a:xfrm>
            <a:off x="571500" y="6438900"/>
            <a:ext cx="952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rPr>
              <a:t>PET Writing · Sport and exercise</a:t>
            </a:r>
          </a:p>
        </p:txBody>
      </p:sp>
      <p:sp>
        <p:nvSpPr>
          <p:cNvPr id="4" name="static_3">
            <a:extLst>
              <a:ext uri="{FF2B5EF4-FFF2-40B4-BE49-F238E27FC236}">
                <a16:creationId xmlns:a16="http://schemas.microsoft.com/office/drawing/2014/main" id="{4F56CE26-7A4A-4282-A0D2-220C8293D0AC}"/>
              </a:ext>
            </a:extLst>
          </p:cNvPr>
          <p:cNvSpPr>
            <a:spLocks noGrp="1"/>
          </p:cNvSpPr>
          <p:nvPr/>
        </p:nvSpPr>
        <p:spPr>
          <a:xfrm>
            <a:off x="11382375" y="6438900"/>
            <a:ext cx="38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5" name="static_4">
            <a:extLst>
              <a:ext uri="{FF2B5EF4-FFF2-40B4-BE49-F238E27FC236}">
                <a16:creationId xmlns:a16="http://schemas.microsoft.com/office/drawing/2014/main" id="{9D89155A-CF13-4C25-9C4F-CD15AF679410}"/>
              </a:ext>
            </a:extLst>
          </p:cNvPr>
          <p:cNvSpPr>
            <a:spLocks noGrp="1"/>
          </p:cNvSpPr>
          <p:nvPr/>
        </p:nvSpPr>
        <p:spPr>
          <a:xfrm>
            <a:off x="571500" y="1628775"/>
            <a:ext cx="1104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950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You see this announcement on an English-language website.</a:t>
            </a:r>
          </a:p>
        </p:txBody>
      </p:sp>
      <p:sp>
        <p:nvSpPr>
          <p:cNvPr id="6" name="static_5">
            <a:extLst>
              <a:ext uri="{FF2B5EF4-FFF2-40B4-BE49-F238E27FC236}">
                <a16:creationId xmlns:a16="http://schemas.microsoft.com/office/drawing/2014/main" id="{D54A459D-2B00-4E1C-994A-351BC078AE7A}"/>
              </a:ext>
            </a:extLst>
          </p:cNvPr>
          <p:cNvSpPr>
            <a:spLocks noGrp="1"/>
          </p:cNvSpPr>
          <p:nvPr/>
        </p:nvSpPr>
        <p:spPr>
          <a:xfrm>
            <a:off x="571500" y="2133600"/>
            <a:ext cx="11049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rPr>
              <a:t>Articles wanted!</a:t>
            </a:r>
          </a:p>
          <a:p>
            <a:pPr>
              <a:defRPr sz="240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rPr>
              <a:t>Sport and exercise</a:t>
            </a:r>
          </a:p>
        </p:txBody>
      </p:sp>
      <p:sp>
        <p:nvSpPr>
          <p:cNvPr id="7" name="static_6">
            <a:extLst>
              <a:ext uri="{FF2B5EF4-FFF2-40B4-BE49-F238E27FC236}">
                <a16:creationId xmlns:a16="http://schemas.microsoft.com/office/drawing/2014/main" id="{66585D73-6507-43BB-9D3D-1D199B6E344F}"/>
              </a:ext>
            </a:extLst>
          </p:cNvPr>
          <p:cNvSpPr>
            <a:spLocks noGrp="1"/>
          </p:cNvSpPr>
          <p:nvPr/>
        </p:nvSpPr>
        <p:spPr>
          <a:xfrm>
            <a:off x="571500" y="3067050"/>
            <a:ext cx="110490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Are there enough sports activities for young people to do in your area?</a:t>
            </a:r>
          </a:p>
          <a:p>
            <a:pPr>
              <a:defRPr sz="2250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Do you think it’s important for young people to do sport and exercise?</a:t>
            </a:r>
          </a:p>
          <a:p>
            <a:pPr>
              <a:defRPr sz="2250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Why?</a:t>
            </a:r>
          </a:p>
        </p:txBody>
      </p:sp>
      <p:sp>
        <p:nvSpPr>
          <p:cNvPr id="8" name="static_7">
            <a:extLst>
              <a:ext uri="{FF2B5EF4-FFF2-40B4-BE49-F238E27FC236}">
                <a16:creationId xmlns:a16="http://schemas.microsoft.com/office/drawing/2014/main" id="{94844F1D-913B-47FA-BB7E-B34D8A99891A}"/>
              </a:ext>
            </a:extLst>
          </p:cNvPr>
          <p:cNvSpPr>
            <a:spLocks noGrp="1"/>
          </p:cNvSpPr>
          <p:nvPr/>
        </p:nvSpPr>
        <p:spPr>
          <a:xfrm>
            <a:off x="571500" y="452437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Write an article answering these questions and we’ll publish the best ones.</a:t>
            </a:r>
          </a:p>
          <a:p>
            <a:pPr>
              <a:defRPr sz="187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Write your article.</a:t>
            </a:r>
          </a:p>
        </p:txBody>
      </p:sp>
      <p:sp>
        <p:nvSpPr>
          <p:cNvPr id="9" name="step_1__8">
            <a:extLst>
              <a:ext uri="{FF2B5EF4-FFF2-40B4-BE49-F238E27FC236}">
                <a16:creationId xmlns:a16="http://schemas.microsoft.com/office/drawing/2014/main" id="{6EE64007-CB63-42FA-A75C-C6380EFA4B6F}"/>
              </a:ext>
            </a:extLst>
          </p:cNvPr>
          <p:cNvSpPr>
            <a:spLocks noGrp="1"/>
          </p:cNvSpPr>
          <p:nvPr/>
        </p:nvSpPr>
        <p:spPr>
          <a:xfrm>
            <a:off x="571500" y="54959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4887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488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8876A"/>
                </a:solidFill>
                <a:latin typeface="Microsoft YaHei"/>
                <a:ea typeface="Microsoft YaHei"/>
                <a:cs typeface="Microsoft YaHei"/>
              </a:rPr>
              <a:t>① Enough locally? Give evidence.   ② Important? Explain why.</a:t>
            </a:r>
          </a:p>
        </p:txBody>
      </p:sp>
    </p:spTree>
    <p:extLst>
      <p:ext uri="{BB962C8B-B14F-4D97-AF65-F5344CB8AC3E}">
        <p14:creationId xmlns:p14="http://schemas.microsoft.com/office/powerpoint/2010/main" val="1389726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tatic_0">
            <a:extLst>
              <a:ext uri="{FF2B5EF4-FFF2-40B4-BE49-F238E27FC236}">
                <a16:creationId xmlns:a16="http://schemas.microsoft.com/office/drawing/2014/main" id="{D04FF25F-4202-4E82-85F8-DDEE797C5DD2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10953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85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rPr>
              <a:t>2. Brainstorm: sports activities</a:t>
            </a:r>
          </a:p>
        </p:txBody>
      </p:sp>
      <p:sp>
        <p:nvSpPr>
          <p:cNvPr id="2" name="static_1">
            <a:extLst>
              <a:ext uri="{FF2B5EF4-FFF2-40B4-BE49-F238E27FC236}">
                <a16:creationId xmlns:a16="http://schemas.microsoft.com/office/drawing/2014/main" id="{1B9DA2E3-C4B8-4B2A-A280-376D588198F9}"/>
              </a:ext>
            </a:extLst>
          </p:cNvPr>
          <p:cNvSpPr>
            <a:spLocks noGrp="1"/>
          </p:cNvSpPr>
          <p:nvPr/>
        </p:nvSpPr>
        <p:spPr>
          <a:xfrm>
            <a:off x="571500" y="1000125"/>
            <a:ext cx="10953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 err="1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rPr>
              <a:t>先看图说运动，再回顾</a:t>
            </a:r>
            <a:r>
              <a:rPr sz="1800" b="0" dirty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rPr>
              <a:t> play / go </a:t>
            </a:r>
            <a:r>
              <a:rPr sz="1800" b="0" dirty="0" err="1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rPr>
              <a:t>的搭配</a:t>
            </a:r>
            <a:r>
              <a:rPr sz="1800" b="0" dirty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" name="static_2">
            <a:extLst>
              <a:ext uri="{FF2B5EF4-FFF2-40B4-BE49-F238E27FC236}">
                <a16:creationId xmlns:a16="http://schemas.microsoft.com/office/drawing/2014/main" id="{26A12B2D-7E1D-4908-9861-FE8C0C569EB1}"/>
              </a:ext>
            </a:extLst>
          </p:cNvPr>
          <p:cNvSpPr>
            <a:spLocks noGrp="1"/>
          </p:cNvSpPr>
          <p:nvPr/>
        </p:nvSpPr>
        <p:spPr>
          <a:xfrm>
            <a:off x="571500" y="6438900"/>
            <a:ext cx="952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rPr>
              <a:t>PET Writing · Sport and exercise</a:t>
            </a:r>
          </a:p>
        </p:txBody>
      </p:sp>
      <p:sp>
        <p:nvSpPr>
          <p:cNvPr id="4" name="static_3">
            <a:extLst>
              <a:ext uri="{FF2B5EF4-FFF2-40B4-BE49-F238E27FC236}">
                <a16:creationId xmlns:a16="http://schemas.microsoft.com/office/drawing/2014/main" id="{3B13B3B5-7E65-4759-A08F-BEC204C03274}"/>
              </a:ext>
            </a:extLst>
          </p:cNvPr>
          <p:cNvSpPr>
            <a:spLocks noGrp="1"/>
          </p:cNvSpPr>
          <p:nvPr/>
        </p:nvSpPr>
        <p:spPr>
          <a:xfrm>
            <a:off x="11382375" y="6438900"/>
            <a:ext cx="38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5" name="static_4">
            <a:extLst>
              <a:ext uri="{FF2B5EF4-FFF2-40B4-BE49-F238E27FC236}">
                <a16:creationId xmlns:a16="http://schemas.microsoft.com/office/drawing/2014/main" id="{43B9B47F-79FC-4233-80AC-32135F9E5FE6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1104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dirty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Which activities can young people do in your area?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B104CCC-0595-4207-89C2-FBAB517FF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7281" y="2305050"/>
            <a:ext cx="5786438" cy="3857625"/>
          </a:xfrm>
          <a:prstGeom prst="rect">
            <a:avLst/>
          </a:prstGeom>
        </p:spPr>
      </p:pic>
      <p:sp>
        <p:nvSpPr>
          <p:cNvPr id="8" name="step_2__6">
            <a:extLst>
              <a:ext uri="{FF2B5EF4-FFF2-40B4-BE49-F238E27FC236}">
                <a16:creationId xmlns:a16="http://schemas.microsoft.com/office/drawing/2014/main" id="{FCC2B981-58E6-43DA-9ADB-A2DA3BD4E3FF}"/>
              </a:ext>
            </a:extLst>
          </p:cNvPr>
          <p:cNvSpPr>
            <a:spLocks noGrp="1"/>
          </p:cNvSpPr>
          <p:nvPr/>
        </p:nvSpPr>
        <p:spPr>
          <a:xfrm>
            <a:off x="7858125" y="3171825"/>
            <a:ext cx="3810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defRPr>
            </a:pPr>
            <a:endParaRPr sz="2250" b="1" dirty="0">
              <a:solidFill>
                <a:srgbClr val="4581B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step_3__7">
            <a:extLst>
              <a:ext uri="{FF2B5EF4-FFF2-40B4-BE49-F238E27FC236}">
                <a16:creationId xmlns:a16="http://schemas.microsoft.com/office/drawing/2014/main" id="{B3D42B71-A9BD-42EF-B2B4-30D044115EF7}"/>
              </a:ext>
            </a:extLst>
          </p:cNvPr>
          <p:cNvSpPr>
            <a:spLocks noGrp="1"/>
          </p:cNvSpPr>
          <p:nvPr/>
        </p:nvSpPr>
        <p:spPr>
          <a:xfrm>
            <a:off x="7858125" y="3962400"/>
            <a:ext cx="3810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defRPr>
            </a:pPr>
            <a:endParaRPr sz="2250" b="1" dirty="0">
              <a:solidFill>
                <a:srgbClr val="4581B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step_4__8">
            <a:extLst>
              <a:ext uri="{FF2B5EF4-FFF2-40B4-BE49-F238E27FC236}">
                <a16:creationId xmlns:a16="http://schemas.microsoft.com/office/drawing/2014/main" id="{68697A29-A8E4-4668-B605-14C1156ED4E7}"/>
              </a:ext>
            </a:extLst>
          </p:cNvPr>
          <p:cNvSpPr>
            <a:spLocks noGrp="1"/>
          </p:cNvSpPr>
          <p:nvPr/>
        </p:nvSpPr>
        <p:spPr>
          <a:xfrm>
            <a:off x="7858125" y="4752975"/>
            <a:ext cx="3810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defRPr>
            </a:pPr>
            <a:endParaRPr sz="2250" b="1" dirty="0">
              <a:solidFill>
                <a:srgbClr val="4581B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step_5__9">
            <a:extLst>
              <a:ext uri="{FF2B5EF4-FFF2-40B4-BE49-F238E27FC236}">
                <a16:creationId xmlns:a16="http://schemas.microsoft.com/office/drawing/2014/main" id="{D79D227F-6BFE-4E9E-B041-9D694C106A4D}"/>
              </a:ext>
            </a:extLst>
          </p:cNvPr>
          <p:cNvSpPr>
            <a:spLocks noGrp="1"/>
          </p:cNvSpPr>
          <p:nvPr/>
        </p:nvSpPr>
        <p:spPr>
          <a:xfrm>
            <a:off x="7858125" y="5619750"/>
            <a:ext cx="37623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4887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1">
                <a:solidFill>
                  <a:srgbClr val="488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48876A"/>
                </a:solidFill>
                <a:latin typeface="Microsoft YaHei"/>
                <a:ea typeface="Microsoft YaHei"/>
                <a:cs typeface="Microsoft YaHei"/>
              </a:rPr>
              <a:t>Where? Is it free?</a:t>
            </a:r>
          </a:p>
          <a:p>
            <a:pPr>
              <a:defRPr sz="2100" b="1">
                <a:solidFill>
                  <a:srgbClr val="488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48876A"/>
                </a:solidFill>
                <a:latin typeface="Microsoft YaHei"/>
                <a:ea typeface="Microsoft YaHei"/>
                <a:cs typeface="Microsoft YaHei"/>
              </a:rPr>
              <a:t>When can you go?</a:t>
            </a:r>
          </a:p>
        </p:txBody>
      </p:sp>
    </p:spTree>
    <p:extLst>
      <p:ext uri="{BB962C8B-B14F-4D97-AF65-F5344CB8AC3E}">
        <p14:creationId xmlns:p14="http://schemas.microsoft.com/office/powerpoint/2010/main" val="1111824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atic_0">
            <a:extLst>
              <a:ext uri="{FF2B5EF4-FFF2-40B4-BE49-F238E27FC236}">
                <a16:creationId xmlns:a16="http://schemas.microsoft.com/office/drawing/2014/main" id="{0CEF9CDD-BA9D-4635-AF22-BBF5974CDA24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10953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85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rPr>
              <a:t>3. Brainstorm: are there enough activities?</a:t>
            </a:r>
          </a:p>
        </p:txBody>
      </p:sp>
      <p:sp>
        <p:nvSpPr>
          <p:cNvPr id="2" name="static_1">
            <a:extLst>
              <a:ext uri="{FF2B5EF4-FFF2-40B4-BE49-F238E27FC236}">
                <a16:creationId xmlns:a16="http://schemas.microsoft.com/office/drawing/2014/main" id="{D7D09CAC-FFA8-4009-AE6E-C3971127A4D2}"/>
              </a:ext>
            </a:extLst>
          </p:cNvPr>
          <p:cNvSpPr>
            <a:spLocks noGrp="1"/>
          </p:cNvSpPr>
          <p:nvPr/>
        </p:nvSpPr>
        <p:spPr>
          <a:xfrm>
            <a:off x="571500" y="1000125"/>
            <a:ext cx="10953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rPr>
              <a:t>先选立场，再用地点、费用或开放时间说明是否足够。</a:t>
            </a:r>
          </a:p>
        </p:txBody>
      </p:sp>
      <p:sp>
        <p:nvSpPr>
          <p:cNvPr id="3" name="static_2">
            <a:extLst>
              <a:ext uri="{FF2B5EF4-FFF2-40B4-BE49-F238E27FC236}">
                <a16:creationId xmlns:a16="http://schemas.microsoft.com/office/drawing/2014/main" id="{17A29A96-0CD9-46B9-889B-1DA58C6C4148}"/>
              </a:ext>
            </a:extLst>
          </p:cNvPr>
          <p:cNvSpPr>
            <a:spLocks noGrp="1"/>
          </p:cNvSpPr>
          <p:nvPr/>
        </p:nvSpPr>
        <p:spPr>
          <a:xfrm>
            <a:off x="571500" y="6438900"/>
            <a:ext cx="952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rPr>
              <a:t>PET Writing · Sport and exercise</a:t>
            </a:r>
          </a:p>
        </p:txBody>
      </p:sp>
      <p:sp>
        <p:nvSpPr>
          <p:cNvPr id="4" name="static_3">
            <a:extLst>
              <a:ext uri="{FF2B5EF4-FFF2-40B4-BE49-F238E27FC236}">
                <a16:creationId xmlns:a16="http://schemas.microsoft.com/office/drawing/2014/main" id="{7034AD8B-BAE6-4A32-8063-6D01F04AE92C}"/>
              </a:ext>
            </a:extLst>
          </p:cNvPr>
          <p:cNvSpPr>
            <a:spLocks noGrp="1"/>
          </p:cNvSpPr>
          <p:nvPr/>
        </p:nvSpPr>
        <p:spPr>
          <a:xfrm>
            <a:off x="11382375" y="6438900"/>
            <a:ext cx="38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5" name="step_1__4">
            <a:extLst>
              <a:ext uri="{FF2B5EF4-FFF2-40B4-BE49-F238E27FC236}">
                <a16:creationId xmlns:a16="http://schemas.microsoft.com/office/drawing/2014/main" id="{D6F8A619-8818-493B-A464-9E9413796AE0}"/>
              </a:ext>
            </a:extLst>
          </p:cNvPr>
          <p:cNvSpPr>
            <a:spLocks noGrp="1"/>
          </p:cNvSpPr>
          <p:nvPr/>
        </p:nvSpPr>
        <p:spPr>
          <a:xfrm>
            <a:off x="571500" y="1695450"/>
            <a:ext cx="10953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Think about choice, places, cost and opening times.</a:t>
            </a:r>
          </a:p>
        </p:txBody>
      </p:sp>
      <p:graphicFrame>
        <p:nvGraphicFramePr>
          <p:cNvPr id="6" name="step_2__table">
            <a:extLst>
              <a:ext uri="{FF2B5EF4-FFF2-40B4-BE49-F238E27FC236}">
                <a16:creationId xmlns:a16="http://schemas.microsoft.com/office/drawing/2014/main" id="{B05D0F9B-5B40-4339-9423-E5C5C3562483}"/>
              </a:ext>
            </a:extLst>
          </p:cNvPr>
          <p:cNvGraphicFramePr/>
          <p:nvPr/>
        </p:nvGraphicFramePr>
        <p:xfrm>
          <a:off x="571500" y="2381250"/>
          <a:ext cx="11049000" cy="2658903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9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0081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Your view</a:t>
                      </a:r>
                    </a:p>
                  </a:txBody>
                  <a:tcPr>
                    <a:lnL w="9525">
                      <a:solidFill>
                        <a:srgbClr val="DCE1E6"/>
                      </a:solidFill>
                      <a:prstDash val="solid"/>
                    </a:lnL>
                    <a:lnR w="9525">
                      <a:solidFill>
                        <a:srgbClr val="DCE1E6"/>
                      </a:solidFill>
                      <a:prstDash val="solid"/>
                    </a:lnR>
                    <a:lnT w="9525">
                      <a:solidFill>
                        <a:srgbClr val="DCE1E6"/>
                      </a:solidFill>
                      <a:prstDash val="solid"/>
                    </a:lnT>
                    <a:lnB w="9525">
                      <a:solidFill>
                        <a:srgbClr val="DCE1E6"/>
                      </a:solidFill>
                      <a:prstDash val="solid"/>
                    </a:lnB>
                    <a:solidFill>
                      <a:srgbClr val="4581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Local evidence</a:t>
                      </a:r>
                    </a:p>
                  </a:txBody>
                  <a:tcPr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1E6"/>
                      </a:solidFill>
                      <a:prstDash val="solid"/>
                    </a:lnR>
                    <a:lnT w="9525">
                      <a:solidFill>
                        <a:srgbClr val="DCE1E6"/>
                      </a:solidFill>
                      <a:prstDash val="solid"/>
                    </a:lnT>
                    <a:lnB w="9525">
                      <a:solidFill>
                        <a:srgbClr val="DCE1E6"/>
                      </a:solidFill>
                      <a:prstDash val="solid"/>
                    </a:lnB>
                    <a:solidFill>
                      <a:srgbClr val="4581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What this shows</a:t>
                      </a:r>
                    </a:p>
                  </a:txBody>
                  <a:tcPr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1E6"/>
                      </a:solidFill>
                      <a:prstDash val="solid"/>
                    </a:lnR>
                    <a:lnT w="9525">
                      <a:solidFill>
                        <a:srgbClr val="DCE1E6"/>
                      </a:solidFill>
                      <a:prstDash val="solid"/>
                    </a:lnT>
                    <a:lnB w="9525">
                      <a:solidFill>
                        <a:srgbClr val="DCE1E6"/>
                      </a:solidFill>
                      <a:prstDash val="solid"/>
                    </a:lnB>
                    <a:solidFill>
                      <a:srgbClr val="458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08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F31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Yes, enough</a:t>
                      </a:r>
                    </a:p>
                  </a:txBody>
                  <a:tcPr>
                    <a:lnL w="9525">
                      <a:solidFill>
                        <a:srgbClr val="DCE1E6"/>
                      </a:solidFill>
                      <a:prstDash val="solid"/>
                    </a:lnL>
                    <a:lnR w="9525">
                      <a:solidFill>
                        <a:srgbClr val="DCE1E6"/>
                      </a:solidFill>
                      <a:prstDash val="soli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F31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Free courts + weekend clubs</a:t>
                      </a:r>
                    </a:p>
                  </a:txBody>
                  <a:tcPr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1E6"/>
                      </a:solidFill>
                      <a:prstDash val="soli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F31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Choice and easy access</a:t>
                      </a:r>
                    </a:p>
                  </a:txBody>
                  <a:tcPr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1E6"/>
                      </a:solidFill>
                      <a:prstDash val="soli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08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F31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Not enough</a:t>
                      </a:r>
                    </a:p>
                  </a:txBody>
                  <a:tcPr>
                    <a:lnL w="9525">
                      <a:solidFill>
                        <a:srgbClr val="DCE1E6"/>
                      </a:solidFill>
                      <a:prstDash val="solid"/>
                    </a:lnL>
                    <a:lnR w="9525">
                      <a:solidFill>
                        <a:srgbClr val="DCE1E6"/>
                      </a:solidFill>
                      <a:prstDash val="soli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1E6"/>
                      </a:solidFill>
                      <a:prstDash val="solid"/>
                    </a:lnB>
                    <a:solidFill>
                      <a:srgbClr val="E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F31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Only one club; it is expensive</a:t>
                      </a:r>
                    </a:p>
                  </a:txBody>
                  <a:tcPr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1E6"/>
                      </a:solidFill>
                      <a:prstDash val="soli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1E6"/>
                      </a:solidFill>
                      <a:prstDash val="solid"/>
                    </a:lnB>
                    <a:solidFill>
                      <a:srgbClr val="EE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F31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Limited affordable options</a:t>
                      </a:r>
                    </a:p>
                  </a:txBody>
                  <a:tcPr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1E6"/>
                      </a:solidFill>
                      <a:prstDash val="soli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1E6"/>
                      </a:solidFill>
                      <a:prstDash val="solid"/>
                    </a:lnB>
                    <a:solidFill>
                      <a:srgbClr val="EE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08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F31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Some, but not enough</a:t>
                      </a:r>
                    </a:p>
                  </a:txBody>
                  <a:tcPr>
                    <a:lnL w="9525">
                      <a:solidFill>
                        <a:srgbClr val="DCE1E6"/>
                      </a:solidFill>
                      <a:prstDash val="solid"/>
                    </a:lnL>
                    <a:lnR w="9525">
                      <a:solidFill>
                        <a:srgbClr val="DCE1E6"/>
                      </a:solidFill>
                      <a:prstDash val="soli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F31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park, but no indoor centre</a:t>
                      </a:r>
                    </a:p>
                  </a:txBody>
                  <a:tcPr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1E6"/>
                      </a:solidFill>
                      <a:prstDash val="soli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F31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Fewer options on rainy days</a:t>
                      </a:r>
                    </a:p>
                  </a:txBody>
                  <a:tcPr>
                    <a:lnL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1E6"/>
                      </a:solidFill>
                      <a:prstDash val="solid"/>
                    </a:lnR>
                    <a:lnT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tep_3__5">
            <a:extLst>
              <a:ext uri="{FF2B5EF4-FFF2-40B4-BE49-F238E27FC236}">
                <a16:creationId xmlns:a16="http://schemas.microsoft.com/office/drawing/2014/main" id="{53B6AB4D-9350-4424-A4A5-DEE62CA98D1E}"/>
              </a:ext>
            </a:extLst>
          </p:cNvPr>
          <p:cNvSpPr>
            <a:spLocks noGrp="1"/>
          </p:cNvSpPr>
          <p:nvPr/>
        </p:nvSpPr>
        <p:spPr>
          <a:xfrm>
            <a:off x="571500" y="5314950"/>
            <a:ext cx="1090612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4887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488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48876A"/>
                </a:solidFill>
                <a:latin typeface="Microsoft YaHei"/>
                <a:ea typeface="Microsoft YaHei"/>
                <a:cs typeface="Microsoft YaHei"/>
              </a:rPr>
              <a:t>Example: There are not enough activities because the only club is expensive.</a:t>
            </a:r>
          </a:p>
        </p:txBody>
      </p:sp>
    </p:spTree>
    <p:extLst>
      <p:ext uri="{BB962C8B-B14F-4D97-AF65-F5344CB8AC3E}">
        <p14:creationId xmlns:p14="http://schemas.microsoft.com/office/powerpoint/2010/main" val="1731091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atic_0">
            <a:extLst>
              <a:ext uri="{FF2B5EF4-FFF2-40B4-BE49-F238E27FC236}">
                <a16:creationId xmlns:a16="http://schemas.microsoft.com/office/drawing/2014/main" id="{69626F0F-F76B-4A9A-8AC0-C8B5EB83715F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10953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85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rPr>
              <a:t>4. Useful vocabulary</a:t>
            </a:r>
          </a:p>
        </p:txBody>
      </p:sp>
      <p:sp>
        <p:nvSpPr>
          <p:cNvPr id="2" name="static_1">
            <a:extLst>
              <a:ext uri="{FF2B5EF4-FFF2-40B4-BE49-F238E27FC236}">
                <a16:creationId xmlns:a16="http://schemas.microsoft.com/office/drawing/2014/main" id="{7A6145F7-8025-4DBA-BE34-485B4AE7BFE3}"/>
              </a:ext>
            </a:extLst>
          </p:cNvPr>
          <p:cNvSpPr>
            <a:spLocks noGrp="1"/>
          </p:cNvSpPr>
          <p:nvPr/>
        </p:nvSpPr>
        <p:spPr>
          <a:xfrm>
            <a:off x="571500" y="1000125"/>
            <a:ext cx="10953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rPr>
              <a:t>把词汇分成两组：当地活动条件 + 运动带来的帮助。</a:t>
            </a:r>
          </a:p>
        </p:txBody>
      </p:sp>
      <p:sp>
        <p:nvSpPr>
          <p:cNvPr id="3" name="static_2">
            <a:extLst>
              <a:ext uri="{FF2B5EF4-FFF2-40B4-BE49-F238E27FC236}">
                <a16:creationId xmlns:a16="http://schemas.microsoft.com/office/drawing/2014/main" id="{E1BD8C10-FEF1-4481-80DA-E07F1CB596CA}"/>
              </a:ext>
            </a:extLst>
          </p:cNvPr>
          <p:cNvSpPr>
            <a:spLocks noGrp="1"/>
          </p:cNvSpPr>
          <p:nvPr/>
        </p:nvSpPr>
        <p:spPr>
          <a:xfrm>
            <a:off x="571500" y="6438900"/>
            <a:ext cx="952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rPr>
              <a:t>PET Writing · Sport and exercise</a:t>
            </a:r>
          </a:p>
        </p:txBody>
      </p:sp>
      <p:sp>
        <p:nvSpPr>
          <p:cNvPr id="4" name="static_3">
            <a:extLst>
              <a:ext uri="{FF2B5EF4-FFF2-40B4-BE49-F238E27FC236}">
                <a16:creationId xmlns:a16="http://schemas.microsoft.com/office/drawing/2014/main" id="{E2339719-8DDB-4E5A-AF4E-00747D382A9D}"/>
              </a:ext>
            </a:extLst>
          </p:cNvPr>
          <p:cNvSpPr>
            <a:spLocks noGrp="1"/>
          </p:cNvSpPr>
          <p:nvPr/>
        </p:nvSpPr>
        <p:spPr>
          <a:xfrm>
            <a:off x="11382375" y="6438900"/>
            <a:ext cx="38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5" name="step_1__4">
            <a:extLst>
              <a:ext uri="{FF2B5EF4-FFF2-40B4-BE49-F238E27FC236}">
                <a16:creationId xmlns:a16="http://schemas.microsoft.com/office/drawing/2014/main" id="{6B64C23A-4328-4395-83DA-C24A5567979D}"/>
              </a:ext>
            </a:extLst>
          </p:cNvPr>
          <p:cNvSpPr>
            <a:spLocks noGrp="1"/>
          </p:cNvSpPr>
          <p:nvPr/>
        </p:nvSpPr>
        <p:spPr>
          <a:xfrm>
            <a:off x="571500" y="1838325"/>
            <a:ext cx="5381625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LOCAL ACTIVITIES</a:t>
            </a:r>
          </a:p>
          <a:p>
            <a:pPr>
              <a:def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play basketball / football</a:t>
            </a:r>
          </a:p>
          <a:p>
            <a:pPr>
              <a:def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go swimming / cycling</a:t>
            </a:r>
          </a:p>
          <a:p>
            <a:pPr>
              <a:def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a sports centre / a local club</a:t>
            </a:r>
          </a:p>
          <a:p>
            <a:pPr>
              <a:def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join a team / take part in activities</a:t>
            </a:r>
          </a:p>
        </p:txBody>
      </p:sp>
      <p:sp>
        <p:nvSpPr>
          <p:cNvPr id="6" name="step_2__5">
            <a:extLst>
              <a:ext uri="{FF2B5EF4-FFF2-40B4-BE49-F238E27FC236}">
                <a16:creationId xmlns:a16="http://schemas.microsoft.com/office/drawing/2014/main" id="{09B6E699-4C82-4186-A599-E55F0B3B3715}"/>
              </a:ext>
            </a:extLst>
          </p:cNvPr>
          <p:cNvSpPr>
            <a:spLocks noGrp="1"/>
          </p:cNvSpPr>
          <p:nvPr/>
        </p:nvSpPr>
        <p:spPr>
          <a:xfrm>
            <a:off x="6572250" y="1838325"/>
            <a:ext cx="504825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ACCESS AND BENEFITS</a:t>
            </a:r>
          </a:p>
          <a:p>
            <a:pPr>
              <a:def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free activities / an expensive club</a:t>
            </a:r>
          </a:p>
          <a:p>
            <a:pPr>
              <a:def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open at weekends</a:t>
            </a:r>
          </a:p>
          <a:p>
            <a:pPr>
              <a:def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keep fit / feel less stressed</a:t>
            </a:r>
          </a:p>
          <a:p>
            <a:pPr>
              <a:def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make friends / learn teamwork</a:t>
            </a:r>
          </a:p>
        </p:txBody>
      </p:sp>
      <p:sp>
        <p:nvSpPr>
          <p:cNvPr id="7" name="step_3__6">
            <a:extLst>
              <a:ext uri="{FF2B5EF4-FFF2-40B4-BE49-F238E27FC236}">
                <a16:creationId xmlns:a16="http://schemas.microsoft.com/office/drawing/2014/main" id="{79F88578-E7C2-48BD-BEDB-BC08F3887D62}"/>
              </a:ext>
            </a:extLst>
          </p:cNvPr>
          <p:cNvSpPr>
            <a:spLocks noGrp="1"/>
          </p:cNvSpPr>
          <p:nvPr/>
        </p:nvSpPr>
        <p:spPr>
          <a:xfrm>
            <a:off x="571500" y="5267325"/>
            <a:ext cx="1095375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4887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488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48876A"/>
                </a:solidFill>
                <a:latin typeface="Microsoft YaHei"/>
                <a:ea typeface="Microsoft YaHei"/>
                <a:cs typeface="Microsoft YaHei"/>
              </a:rPr>
              <a:t>We can play basketball on the free courts near my home.</a:t>
            </a:r>
          </a:p>
          <a:p>
            <a:pPr>
              <a:defRPr sz="2250" b="0">
                <a:solidFill>
                  <a:srgbClr val="488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48876A"/>
                </a:solidFill>
                <a:latin typeface="Microsoft YaHei"/>
                <a:ea typeface="Microsoft YaHei"/>
                <a:cs typeface="Microsoft YaHei"/>
              </a:rPr>
              <a:t>Taking part in team sports can help us make friends.</a:t>
            </a:r>
          </a:p>
        </p:txBody>
      </p:sp>
    </p:spTree>
    <p:extLst>
      <p:ext uri="{BB962C8B-B14F-4D97-AF65-F5344CB8AC3E}">
        <p14:creationId xmlns:p14="http://schemas.microsoft.com/office/powerpoint/2010/main" val="1832301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0">
            <a:extLst>
              <a:ext uri="{FF2B5EF4-FFF2-40B4-BE49-F238E27FC236}">
                <a16:creationId xmlns:a16="http://schemas.microsoft.com/office/drawing/2014/main" id="{AB0C8BEC-EABF-4684-91BF-1E9638AF6A8B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10953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85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rPr>
              <a:t>5. Linking words: fill in the blanks</a:t>
            </a:r>
          </a:p>
        </p:txBody>
      </p:sp>
      <p:sp>
        <p:nvSpPr>
          <p:cNvPr id="3" name="static_2">
            <a:extLst>
              <a:ext uri="{FF2B5EF4-FFF2-40B4-BE49-F238E27FC236}">
                <a16:creationId xmlns:a16="http://schemas.microsoft.com/office/drawing/2014/main" id="{500462C3-EC73-40CD-B1B3-32C21152ECC4}"/>
              </a:ext>
            </a:extLst>
          </p:cNvPr>
          <p:cNvSpPr>
            <a:spLocks noGrp="1"/>
          </p:cNvSpPr>
          <p:nvPr/>
        </p:nvSpPr>
        <p:spPr>
          <a:xfrm>
            <a:off x="571500" y="6438900"/>
            <a:ext cx="952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rPr>
              <a:t>PET Writing · Sport and exercise</a:t>
            </a:r>
          </a:p>
        </p:txBody>
      </p:sp>
      <p:sp>
        <p:nvSpPr>
          <p:cNvPr id="4" name="static_3">
            <a:extLst>
              <a:ext uri="{FF2B5EF4-FFF2-40B4-BE49-F238E27FC236}">
                <a16:creationId xmlns:a16="http://schemas.microsoft.com/office/drawing/2014/main" id="{AE2BB51B-50CD-4FFA-BDA7-EB887912BAFE}"/>
              </a:ext>
            </a:extLst>
          </p:cNvPr>
          <p:cNvSpPr>
            <a:spLocks noGrp="1"/>
          </p:cNvSpPr>
          <p:nvPr/>
        </p:nvSpPr>
        <p:spPr>
          <a:xfrm>
            <a:off x="11382375" y="6438900"/>
            <a:ext cx="38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1000353"/>
            <a:ext cx="10953597" cy="428853"/>
          </a:xfrm>
          <a:prstGeom prst="rect">
            <a:avLst/>
          </a:prstGeom>
          <a:noFill/>
        </p:spPr>
        <p:txBody>
          <a:bodyPr wrap="square" lIns="0" rIns="0" anchor="ctr">
            <a:noAutofit/>
          </a:bodyPr>
          <a:lstStyle/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rPr>
              <a:t>连接词练习｜先完整读文，再按语义选词；举例表达可以互换。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1591056"/>
            <a:ext cx="10826496" cy="841248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0160">
            <a:solidFill>
              <a:srgbClr val="458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1609344"/>
            <a:ext cx="10607040" cy="804672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rPr>
              <a:t>above all  ·  another thing  ·  such as</a:t>
            </a:r>
          </a:p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rPr>
              <a:t>for example  ·  for instance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523744"/>
            <a:ext cx="11018520" cy="35661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rPr>
              <a:t>Sport in our area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2916936"/>
            <a:ext cx="7543636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Do young people have enough opportunities to exercise?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3291840"/>
            <a:ext cx="8571708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I think there are enough activities in my area. We can play sports 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34064" y="3630168"/>
            <a:ext cx="1152144" cy="0"/>
          </a:xfrm>
          <a:prstGeom prst="line">
            <a:avLst/>
          </a:prstGeom>
          <a:ln w="1016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Answer 1: such as"/>
          <p:cNvGrpSpPr/>
          <p:nvPr/>
        </p:nvGrpSpPr>
        <p:grpSpPr>
          <a:xfrm>
            <a:off x="9115776" y="3291840"/>
            <a:ext cx="1188720" cy="370332"/>
            <a:chOff x="9115776" y="3291840"/>
            <a:chExt cx="1188720" cy="370332"/>
          </a:xfrm>
        </p:grpSpPr>
        <p:sp>
          <p:nvSpPr>
            <p:cNvPr id="22" name="Rounded Rectangle 21"/>
            <p:cNvSpPr/>
            <p:nvPr/>
          </p:nvSpPr>
          <p:spPr>
            <a:xfrm>
              <a:off x="9115776" y="3296412"/>
              <a:ext cx="1188720" cy="361188"/>
            </a:xfrm>
            <a:prstGeom prst="roundRect">
              <a:avLst>
                <a:gd name="adj" fmla="val 8000"/>
              </a:avLst>
            </a:prstGeom>
            <a:solidFill>
              <a:srgbClr val="718B2E"/>
            </a:solidFill>
            <a:ln w="10160">
              <a:solidFill>
                <a:srgbClr val="6B9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124920" y="3291840"/>
              <a:ext cx="1170432" cy="370332"/>
            </a:xfrm>
            <a:prstGeom prst="rect">
              <a:avLst/>
            </a:prstGeom>
            <a:noFill/>
          </p:spPr>
          <p:txBody>
            <a:bodyPr wrap="square" lIns="0" rIns="0" anchor="ctr" tIns="0" bIns="0">
              <a:spAutoFit/>
            </a:bodyPr>
            <a:lstStyle/>
            <a:p>
              <a:pPr algn="ctr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</a:rPr>
                <a:t>such as</a:t>
              </a: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571500" y="3666744"/>
            <a:ext cx="3213103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football and basketball. 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75459" y="4005072"/>
            <a:ext cx="1837944" cy="0"/>
          </a:xfrm>
          <a:prstGeom prst="line">
            <a:avLst/>
          </a:prstGeom>
          <a:ln w="1016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Answer 2: For example"/>
          <p:cNvGrpSpPr/>
          <p:nvPr/>
        </p:nvGrpSpPr>
        <p:grpSpPr>
          <a:xfrm>
            <a:off x="3757171" y="3666744"/>
            <a:ext cx="1874519" cy="370332"/>
            <a:chOff x="3757171" y="3666744"/>
            <a:chExt cx="1874519" cy="370332"/>
          </a:xfrm>
        </p:grpSpPr>
        <p:sp>
          <p:nvSpPr>
            <p:cNvPr id="26" name="Rounded Rectangle 25"/>
            <p:cNvSpPr/>
            <p:nvPr/>
          </p:nvSpPr>
          <p:spPr>
            <a:xfrm>
              <a:off x="3757171" y="3671315"/>
              <a:ext cx="1874519" cy="361188"/>
            </a:xfrm>
            <a:prstGeom prst="roundRect">
              <a:avLst>
                <a:gd name="adj" fmla="val 8000"/>
              </a:avLst>
            </a:prstGeom>
            <a:solidFill>
              <a:srgbClr val="718B2E"/>
            </a:solidFill>
            <a:ln w="10160">
              <a:solidFill>
                <a:srgbClr val="6B9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766315" y="3666744"/>
              <a:ext cx="1856231" cy="370332"/>
            </a:xfrm>
            <a:prstGeom prst="rect">
              <a:avLst/>
            </a:prstGeom>
            <a:noFill/>
          </p:spPr>
          <p:txBody>
            <a:bodyPr wrap="square" lIns="0" rIns="0" anchor="ctr" tIns="0" bIns="0">
              <a:spAutoFit/>
            </a:bodyPr>
            <a:lstStyle/>
            <a:p>
              <a:pPr algn="ctr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</a:rPr>
                <a:t>For example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5631691" y="3666744"/>
            <a:ext cx="4809330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, there are free courts near my home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" y="4041648"/>
            <a:ext cx="4799159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and swimming classes at weekends.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" y="4416552"/>
            <a:ext cx="9766815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Sport is important because it helps us make friends. When we join a team,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" y="4791456"/>
            <a:ext cx="7469150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we meet other young people and learn to work together.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89788" y="5504688"/>
            <a:ext cx="2020824" cy="0"/>
          </a:xfrm>
          <a:prstGeom prst="line">
            <a:avLst/>
          </a:prstGeom>
          <a:ln w="1016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Answer 3: Another thing"/>
          <p:cNvGrpSpPr/>
          <p:nvPr/>
        </p:nvGrpSpPr>
        <p:grpSpPr>
          <a:xfrm>
            <a:off x="571500" y="5166360"/>
            <a:ext cx="2057400" cy="370332"/>
            <a:chOff x="571500" y="5166360"/>
            <a:chExt cx="2057400" cy="370332"/>
          </a:xfrm>
        </p:grpSpPr>
        <p:sp>
          <p:nvSpPr>
            <p:cNvPr id="33" name="Rounded Rectangle 32"/>
            <p:cNvSpPr/>
            <p:nvPr/>
          </p:nvSpPr>
          <p:spPr>
            <a:xfrm>
              <a:off x="571500" y="5170932"/>
              <a:ext cx="2057400" cy="361188"/>
            </a:xfrm>
            <a:prstGeom prst="roundRect">
              <a:avLst>
                <a:gd name="adj" fmla="val 8000"/>
              </a:avLst>
            </a:prstGeom>
            <a:solidFill>
              <a:srgbClr val="718B2E"/>
            </a:solidFill>
            <a:ln w="10160">
              <a:solidFill>
                <a:srgbClr val="6B9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80644" y="5166360"/>
              <a:ext cx="2039112" cy="370332"/>
            </a:xfrm>
            <a:prstGeom prst="rect">
              <a:avLst/>
            </a:prstGeom>
            <a:noFill/>
          </p:spPr>
          <p:txBody>
            <a:bodyPr wrap="square" lIns="0" rIns="0" anchor="ctr" tIns="0" bIns="0">
              <a:spAutoFit/>
            </a:bodyPr>
            <a:lstStyle/>
            <a:p>
              <a:pPr algn="ctr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</a:rPr>
                <a:t>Another thing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2628900" y="5166360"/>
            <a:ext cx="7152385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 I like about sport is that it helps me relax after school.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89788" y="5879592"/>
            <a:ext cx="1426464" cy="0"/>
          </a:xfrm>
          <a:prstGeom prst="line">
            <a:avLst/>
          </a:prstGeom>
          <a:ln w="1016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Answer 4: Above all"/>
          <p:cNvGrpSpPr/>
          <p:nvPr/>
        </p:nvGrpSpPr>
        <p:grpSpPr>
          <a:xfrm>
            <a:off x="571500" y="5541264"/>
            <a:ext cx="1463040" cy="370332"/>
            <a:chOff x="571500" y="5541264"/>
            <a:chExt cx="1463040" cy="370332"/>
          </a:xfrm>
        </p:grpSpPr>
        <p:sp>
          <p:nvSpPr>
            <p:cNvPr id="37" name="Rounded Rectangle 36"/>
            <p:cNvSpPr/>
            <p:nvPr/>
          </p:nvSpPr>
          <p:spPr>
            <a:xfrm>
              <a:off x="571500" y="5545836"/>
              <a:ext cx="1463040" cy="361188"/>
            </a:xfrm>
            <a:prstGeom prst="roundRect">
              <a:avLst>
                <a:gd name="adj" fmla="val 8000"/>
              </a:avLst>
            </a:prstGeom>
            <a:solidFill>
              <a:srgbClr val="718B2E"/>
            </a:solidFill>
            <a:ln w="10160">
              <a:solidFill>
                <a:srgbClr val="6B9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80644" y="5541264"/>
              <a:ext cx="1444752" cy="370332"/>
            </a:xfrm>
            <a:prstGeom prst="rect">
              <a:avLst/>
            </a:prstGeom>
            <a:noFill/>
          </p:spPr>
          <p:txBody>
            <a:bodyPr wrap="square" lIns="0" rIns="0" anchor="ctr" tIns="0" bIns="0">
              <a:spAutoFit/>
            </a:bodyPr>
            <a:lstStyle/>
            <a:p>
              <a:pPr algn="ctr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</a:rPr>
                <a:t>Above all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2034540" y="5541264"/>
            <a:ext cx="5139960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, regular exercise helps us stay healthy.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" y="5916168"/>
            <a:ext cx="7699236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Why not try a new activity with your friends this weekend?</a:t>
            </a:r>
          </a:p>
        </p:txBody>
      </p:sp>
    </p:spTree>
    <p:extLst>
      <p:ext uri="{BB962C8B-B14F-4D97-AF65-F5344CB8AC3E}">
        <p14:creationId xmlns:p14="http://schemas.microsoft.com/office/powerpoint/2010/main" val="1402226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atic_0">
            <a:extLst>
              <a:ext uri="{FF2B5EF4-FFF2-40B4-BE49-F238E27FC236}">
                <a16:creationId xmlns:a16="http://schemas.microsoft.com/office/drawing/2014/main" id="{733CD0E1-445B-40F8-A4E5-496A541ED60E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10953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85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rPr>
              <a:t>6. Language focus: enough</a:t>
            </a:r>
          </a:p>
        </p:txBody>
      </p:sp>
      <p:sp>
        <p:nvSpPr>
          <p:cNvPr id="2" name="static_1">
            <a:extLst>
              <a:ext uri="{FF2B5EF4-FFF2-40B4-BE49-F238E27FC236}">
                <a16:creationId xmlns:a16="http://schemas.microsoft.com/office/drawing/2014/main" id="{584A01FC-DC24-448B-98C2-171D3F8E6EBC}"/>
              </a:ext>
            </a:extLst>
          </p:cNvPr>
          <p:cNvSpPr>
            <a:spLocks noGrp="1"/>
          </p:cNvSpPr>
          <p:nvPr/>
        </p:nvSpPr>
        <p:spPr>
          <a:xfrm>
            <a:off x="571500" y="1000125"/>
            <a:ext cx="10953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rPr>
              <a:t>“有活动”还不够，要回答这些活动是否满足需要。</a:t>
            </a:r>
          </a:p>
        </p:txBody>
      </p:sp>
      <p:sp>
        <p:nvSpPr>
          <p:cNvPr id="3" name="static_2">
            <a:extLst>
              <a:ext uri="{FF2B5EF4-FFF2-40B4-BE49-F238E27FC236}">
                <a16:creationId xmlns:a16="http://schemas.microsoft.com/office/drawing/2014/main" id="{AB956061-C96F-46E7-9DAF-DFCB4158B110}"/>
              </a:ext>
            </a:extLst>
          </p:cNvPr>
          <p:cNvSpPr>
            <a:spLocks noGrp="1"/>
          </p:cNvSpPr>
          <p:nvPr/>
        </p:nvSpPr>
        <p:spPr>
          <a:xfrm>
            <a:off x="571500" y="6438900"/>
            <a:ext cx="952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rPr>
              <a:t>PET Writing · Sport and exercise</a:t>
            </a:r>
          </a:p>
        </p:txBody>
      </p:sp>
      <p:sp>
        <p:nvSpPr>
          <p:cNvPr id="4" name="static_3">
            <a:extLst>
              <a:ext uri="{FF2B5EF4-FFF2-40B4-BE49-F238E27FC236}">
                <a16:creationId xmlns:a16="http://schemas.microsoft.com/office/drawing/2014/main" id="{0FC1B754-1705-4DEC-8F27-642112C37022}"/>
              </a:ext>
            </a:extLst>
          </p:cNvPr>
          <p:cNvSpPr>
            <a:spLocks noGrp="1"/>
          </p:cNvSpPr>
          <p:nvPr/>
        </p:nvSpPr>
        <p:spPr>
          <a:xfrm>
            <a:off x="11382375" y="6438900"/>
            <a:ext cx="38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5" name="step_1__4">
            <a:extLst>
              <a:ext uri="{FF2B5EF4-FFF2-40B4-BE49-F238E27FC236}">
                <a16:creationId xmlns:a16="http://schemas.microsoft.com/office/drawing/2014/main" id="{12FB4E83-DB3B-45A2-B139-150385D36105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10953750" cy="942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enough + plural noun</a:t>
            </a:r>
          </a:p>
          <a:p>
            <a:pPr>
              <a:defRPr sz="247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There are enough sports activities in my area.</a:t>
            </a:r>
          </a:p>
        </p:txBody>
      </p:sp>
      <p:sp>
        <p:nvSpPr>
          <p:cNvPr id="6" name="step_2__5">
            <a:extLst>
              <a:ext uri="{FF2B5EF4-FFF2-40B4-BE49-F238E27FC236}">
                <a16:creationId xmlns:a16="http://schemas.microsoft.com/office/drawing/2014/main" id="{4B66F909-9BE3-45B1-9592-96AD53FF6E52}"/>
              </a:ext>
            </a:extLst>
          </p:cNvPr>
          <p:cNvSpPr>
            <a:spLocks noGrp="1"/>
          </p:cNvSpPr>
          <p:nvPr/>
        </p:nvSpPr>
        <p:spPr>
          <a:xfrm>
            <a:off x="571500" y="3105150"/>
            <a:ext cx="10953750" cy="942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not enough + plural noun</a:t>
            </a:r>
          </a:p>
          <a:p>
            <a:pPr>
              <a:defRPr sz="247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There are not enough clubs for young people.</a:t>
            </a:r>
          </a:p>
        </p:txBody>
      </p:sp>
      <p:sp>
        <p:nvSpPr>
          <p:cNvPr id="7" name="step_3__6">
            <a:extLst>
              <a:ext uri="{FF2B5EF4-FFF2-40B4-BE49-F238E27FC236}">
                <a16:creationId xmlns:a16="http://schemas.microsoft.com/office/drawing/2014/main" id="{63FE0A01-D608-47E8-A730-C5DD15E202D6}"/>
              </a:ext>
            </a:extLst>
          </p:cNvPr>
          <p:cNvSpPr>
            <a:spLocks noGrp="1"/>
          </p:cNvSpPr>
          <p:nvPr/>
        </p:nvSpPr>
        <p:spPr>
          <a:xfrm>
            <a:off x="571500" y="4410075"/>
            <a:ext cx="10953750" cy="942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adjective + enough</a:t>
            </a:r>
          </a:p>
          <a:p>
            <a:pPr>
              <a:defRPr sz="247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The sports centre is not cheap enough for many students.</a:t>
            </a:r>
          </a:p>
        </p:txBody>
      </p:sp>
      <p:sp>
        <p:nvSpPr>
          <p:cNvPr id="8" name="step_4__7">
            <a:extLst>
              <a:ext uri="{FF2B5EF4-FFF2-40B4-BE49-F238E27FC236}">
                <a16:creationId xmlns:a16="http://schemas.microsoft.com/office/drawing/2014/main" id="{51DE70F1-0E01-4537-95E9-05A91C194D99}"/>
              </a:ext>
            </a:extLst>
          </p:cNvPr>
          <p:cNvSpPr>
            <a:spLocks noGrp="1"/>
          </p:cNvSpPr>
          <p:nvPr/>
        </p:nvSpPr>
        <p:spPr>
          <a:xfrm>
            <a:off x="571500" y="5667375"/>
            <a:ext cx="10953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4887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1">
                <a:solidFill>
                  <a:srgbClr val="488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48876A"/>
                </a:solidFill>
                <a:latin typeface="Microsoft YaHei"/>
                <a:ea typeface="Microsoft YaHei"/>
                <a:cs typeface="Microsoft YaHei"/>
              </a:rPr>
              <a:t>Link your judgement to evidence: choice, cost, place or time.</a:t>
            </a:r>
          </a:p>
        </p:txBody>
      </p:sp>
    </p:spTree>
    <p:extLst>
      <p:ext uri="{BB962C8B-B14F-4D97-AF65-F5344CB8AC3E}">
        <p14:creationId xmlns:p14="http://schemas.microsoft.com/office/powerpoint/2010/main" val="2065087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atic_0">
            <a:extLst>
              <a:ext uri="{FF2B5EF4-FFF2-40B4-BE49-F238E27FC236}">
                <a16:creationId xmlns:a16="http://schemas.microsoft.com/office/drawing/2014/main" id="{C0BDD49F-8BE3-46EB-9E9E-E8762E546DCF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10953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85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rPr>
              <a:t>7. Language focus: examples and benefits</a:t>
            </a:r>
          </a:p>
        </p:txBody>
      </p:sp>
      <p:sp>
        <p:nvSpPr>
          <p:cNvPr id="2" name="static_1">
            <a:extLst>
              <a:ext uri="{FF2B5EF4-FFF2-40B4-BE49-F238E27FC236}">
                <a16:creationId xmlns:a16="http://schemas.microsoft.com/office/drawing/2014/main" id="{207FA214-E978-4D7B-B699-D79595E0218E}"/>
              </a:ext>
            </a:extLst>
          </p:cNvPr>
          <p:cNvSpPr>
            <a:spLocks noGrp="1"/>
          </p:cNvSpPr>
          <p:nvPr/>
        </p:nvSpPr>
        <p:spPr>
          <a:xfrm>
            <a:off x="571500" y="1000125"/>
            <a:ext cx="10953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rPr>
              <a:t>分清怎样举例，再用 important / help 说明运动的作用。</a:t>
            </a:r>
          </a:p>
        </p:txBody>
      </p:sp>
      <p:sp>
        <p:nvSpPr>
          <p:cNvPr id="3" name="static_2">
            <a:extLst>
              <a:ext uri="{FF2B5EF4-FFF2-40B4-BE49-F238E27FC236}">
                <a16:creationId xmlns:a16="http://schemas.microsoft.com/office/drawing/2014/main" id="{5AD19444-E76C-4BCF-A720-734BF3599236}"/>
              </a:ext>
            </a:extLst>
          </p:cNvPr>
          <p:cNvSpPr>
            <a:spLocks noGrp="1"/>
          </p:cNvSpPr>
          <p:nvPr/>
        </p:nvSpPr>
        <p:spPr>
          <a:xfrm>
            <a:off x="571500" y="6438900"/>
            <a:ext cx="952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rPr>
              <a:t>PET Writing · Sport and exercise</a:t>
            </a:r>
          </a:p>
        </p:txBody>
      </p:sp>
      <p:sp>
        <p:nvSpPr>
          <p:cNvPr id="4" name="static_3">
            <a:extLst>
              <a:ext uri="{FF2B5EF4-FFF2-40B4-BE49-F238E27FC236}">
                <a16:creationId xmlns:a16="http://schemas.microsoft.com/office/drawing/2014/main" id="{DA0F90BE-7067-4FCB-9886-8FD5D48A1EBD}"/>
              </a:ext>
            </a:extLst>
          </p:cNvPr>
          <p:cNvSpPr>
            <a:spLocks noGrp="1"/>
          </p:cNvSpPr>
          <p:nvPr/>
        </p:nvSpPr>
        <p:spPr>
          <a:xfrm>
            <a:off x="11382375" y="6438900"/>
            <a:ext cx="38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5" name="step_1__4">
            <a:extLst>
              <a:ext uri="{FF2B5EF4-FFF2-40B4-BE49-F238E27FC236}">
                <a16:creationId xmlns:a16="http://schemas.microsoft.com/office/drawing/2014/main" id="{D5411940-81F0-4E68-A06E-B15681B5A9DE}"/>
              </a:ext>
            </a:extLst>
          </p:cNvPr>
          <p:cNvSpPr>
            <a:spLocks noGrp="1"/>
          </p:cNvSpPr>
          <p:nvPr/>
        </p:nvSpPr>
        <p:spPr>
          <a:xfrm>
            <a:off x="571500" y="1704975"/>
            <a:ext cx="10953750" cy="885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such as + noun examples</a:t>
            </a:r>
          </a:p>
          <a:p>
            <a:pPr>
              <a:def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We can do sports such as football and basketball.</a:t>
            </a:r>
          </a:p>
        </p:txBody>
      </p:sp>
      <p:sp>
        <p:nvSpPr>
          <p:cNvPr id="6" name="step_2__5">
            <a:extLst>
              <a:ext uri="{FF2B5EF4-FFF2-40B4-BE49-F238E27FC236}">
                <a16:creationId xmlns:a16="http://schemas.microsoft.com/office/drawing/2014/main" id="{8C23E017-7A0F-4040-BAE8-6A5AF33F48F0}"/>
              </a:ext>
            </a:extLst>
          </p:cNvPr>
          <p:cNvSpPr>
            <a:spLocks noGrp="1"/>
          </p:cNvSpPr>
          <p:nvPr/>
        </p:nvSpPr>
        <p:spPr>
          <a:xfrm>
            <a:off x="571500" y="2867025"/>
            <a:ext cx="10953750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for example / for instance + a specific example</a:t>
            </a:r>
          </a:p>
          <a:p>
            <a:pPr>
              <a:def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There are free activities. For example, we can use the park.</a:t>
            </a:r>
          </a:p>
        </p:txBody>
      </p:sp>
      <p:sp>
        <p:nvSpPr>
          <p:cNvPr id="7" name="step_3__6">
            <a:extLst>
              <a:ext uri="{FF2B5EF4-FFF2-40B4-BE49-F238E27FC236}">
                <a16:creationId xmlns:a16="http://schemas.microsoft.com/office/drawing/2014/main" id="{5508F526-5119-40FB-8881-B7756AE9636D}"/>
              </a:ext>
            </a:extLst>
          </p:cNvPr>
          <p:cNvSpPr>
            <a:spLocks noGrp="1"/>
          </p:cNvSpPr>
          <p:nvPr/>
        </p:nvSpPr>
        <p:spPr>
          <a:xfrm>
            <a:off x="571500" y="4133850"/>
            <a:ext cx="10953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It is important for someone to do something.</a:t>
            </a:r>
          </a:p>
          <a:p>
            <a:pPr>
              <a:def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It is important for young people to exercise regularly.</a:t>
            </a:r>
          </a:p>
        </p:txBody>
      </p:sp>
      <p:sp>
        <p:nvSpPr>
          <p:cNvPr id="8" name="step_4__7">
            <a:extLst>
              <a:ext uri="{FF2B5EF4-FFF2-40B4-BE49-F238E27FC236}">
                <a16:creationId xmlns:a16="http://schemas.microsoft.com/office/drawing/2014/main" id="{1230F6CE-20E0-4BF4-A6F9-7B064BD248B2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10953750" cy="885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4887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488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48876A"/>
                </a:solidFill>
                <a:latin typeface="Microsoft YaHei"/>
                <a:ea typeface="Microsoft YaHei"/>
                <a:cs typeface="Microsoft YaHei"/>
              </a:rPr>
              <a:t>help someone (to) do something</a:t>
            </a:r>
          </a:p>
          <a:p>
            <a:pPr>
              <a:defRPr sz="2250" b="0">
                <a:solidFill>
                  <a:srgbClr val="488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48876A"/>
                </a:solidFill>
                <a:latin typeface="Microsoft YaHei"/>
                <a:ea typeface="Microsoft YaHei"/>
                <a:cs typeface="Microsoft YaHei"/>
              </a:rPr>
              <a:t>Team sports help us (to) make friends.</a:t>
            </a:r>
          </a:p>
        </p:txBody>
      </p:sp>
    </p:spTree>
    <p:extLst>
      <p:ext uri="{BB962C8B-B14F-4D97-AF65-F5344CB8AC3E}">
        <p14:creationId xmlns:p14="http://schemas.microsoft.com/office/powerpoint/2010/main" val="819339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tatic_0">
            <a:extLst>
              <a:ext uri="{FF2B5EF4-FFF2-40B4-BE49-F238E27FC236}">
                <a16:creationId xmlns:a16="http://schemas.microsoft.com/office/drawing/2014/main" id="{AA78DA45-D3F1-4CC7-96C4-D79CCB6504CD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10953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85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rPr>
              <a:t>8. Sentence development</a:t>
            </a:r>
          </a:p>
        </p:txBody>
      </p:sp>
      <p:sp>
        <p:nvSpPr>
          <p:cNvPr id="2" name="static_1">
            <a:extLst>
              <a:ext uri="{FF2B5EF4-FFF2-40B4-BE49-F238E27FC236}">
                <a16:creationId xmlns:a16="http://schemas.microsoft.com/office/drawing/2014/main" id="{F8144751-08E3-4DB9-AA96-7B78006DD92D}"/>
              </a:ext>
            </a:extLst>
          </p:cNvPr>
          <p:cNvSpPr>
            <a:spLocks noGrp="1"/>
          </p:cNvSpPr>
          <p:nvPr/>
        </p:nvSpPr>
        <p:spPr>
          <a:xfrm>
            <a:off x="571500" y="1000125"/>
            <a:ext cx="10953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rPr>
              <a:t>不要停在一句观点：加上具体例子，或解释它怎样有用。</a:t>
            </a:r>
          </a:p>
        </p:txBody>
      </p:sp>
      <p:sp>
        <p:nvSpPr>
          <p:cNvPr id="3" name="static_2">
            <a:extLst>
              <a:ext uri="{FF2B5EF4-FFF2-40B4-BE49-F238E27FC236}">
                <a16:creationId xmlns:a16="http://schemas.microsoft.com/office/drawing/2014/main" id="{E33CED6F-BAE1-439F-926C-F1D3BF117141}"/>
              </a:ext>
            </a:extLst>
          </p:cNvPr>
          <p:cNvSpPr>
            <a:spLocks noGrp="1"/>
          </p:cNvSpPr>
          <p:nvPr/>
        </p:nvSpPr>
        <p:spPr>
          <a:xfrm>
            <a:off x="571500" y="6438900"/>
            <a:ext cx="952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rPr>
              <a:t>PET Writing · Sport and exercise</a:t>
            </a:r>
          </a:p>
        </p:txBody>
      </p:sp>
      <p:sp>
        <p:nvSpPr>
          <p:cNvPr id="4" name="static_3">
            <a:extLst>
              <a:ext uri="{FF2B5EF4-FFF2-40B4-BE49-F238E27FC236}">
                <a16:creationId xmlns:a16="http://schemas.microsoft.com/office/drawing/2014/main" id="{60D6B735-A865-42BF-9F0A-A471D2DE4EA9}"/>
              </a:ext>
            </a:extLst>
          </p:cNvPr>
          <p:cNvSpPr>
            <a:spLocks noGrp="1"/>
          </p:cNvSpPr>
          <p:nvPr/>
        </p:nvSpPr>
        <p:spPr>
          <a:xfrm>
            <a:off x="11382375" y="6438900"/>
            <a:ext cx="38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5" name="static_4">
            <a:extLst>
              <a:ext uri="{FF2B5EF4-FFF2-40B4-BE49-F238E27FC236}">
                <a16:creationId xmlns:a16="http://schemas.microsoft.com/office/drawing/2014/main" id="{0DAFE170-1467-4438-B1AA-360DD8AFC431}"/>
              </a:ext>
            </a:extLst>
          </p:cNvPr>
          <p:cNvSpPr>
            <a:spLocks noGrp="1"/>
          </p:cNvSpPr>
          <p:nvPr/>
        </p:nvSpPr>
        <p:spPr>
          <a:xfrm>
            <a:off x="571500" y="164782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95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95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rPr>
              <a:t>LOCAL SITUATION  当地情况</a:t>
            </a:r>
          </a:p>
        </p:txBody>
      </p:sp>
      <p:sp>
        <p:nvSpPr>
          <p:cNvPr id="6" name="step_1__5">
            <a:extLst>
              <a:ext uri="{FF2B5EF4-FFF2-40B4-BE49-F238E27FC236}">
                <a16:creationId xmlns:a16="http://schemas.microsoft.com/office/drawing/2014/main" id="{73827DE1-5EC6-414A-B478-EF444EC303F3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10953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There are enough sports activities in my area.</a:t>
            </a:r>
          </a:p>
        </p:txBody>
      </p:sp>
      <p:sp>
        <p:nvSpPr>
          <p:cNvPr id="7" name="step_2__6">
            <a:extLst>
              <a:ext uri="{FF2B5EF4-FFF2-40B4-BE49-F238E27FC236}">
                <a16:creationId xmlns:a16="http://schemas.microsoft.com/office/drawing/2014/main" id="{396903D1-82E3-4F94-B0FF-FA1E4F27B539}"/>
              </a:ext>
            </a:extLst>
          </p:cNvPr>
          <p:cNvSpPr>
            <a:spLocks noGrp="1"/>
          </p:cNvSpPr>
          <p:nvPr/>
        </p:nvSpPr>
        <p:spPr>
          <a:xfrm>
            <a:off x="571500" y="2657475"/>
            <a:ext cx="10953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 b="0">
                <a:solidFill>
                  <a:srgbClr val="4887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488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48876A"/>
                </a:solidFill>
                <a:latin typeface="Microsoft YaHei"/>
                <a:ea typeface="Microsoft YaHei"/>
                <a:cs typeface="Microsoft YaHei"/>
              </a:rPr>
              <a:t>For example, we can play basketball on free courts</a:t>
            </a:r>
          </a:p>
          <a:p>
            <a:pPr>
              <a:defRPr sz="2400" b="0">
                <a:solidFill>
                  <a:srgbClr val="488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48876A"/>
                </a:solidFill>
                <a:latin typeface="Microsoft YaHei"/>
                <a:ea typeface="Microsoft YaHei"/>
                <a:cs typeface="Microsoft YaHei"/>
              </a:rPr>
              <a:t>and join swimming classes at weekends.</a:t>
            </a:r>
          </a:p>
        </p:txBody>
      </p:sp>
      <p:sp>
        <p:nvSpPr>
          <p:cNvPr id="8" name="static_7">
            <a:extLst>
              <a:ext uri="{FF2B5EF4-FFF2-40B4-BE49-F238E27FC236}">
                <a16:creationId xmlns:a16="http://schemas.microsoft.com/office/drawing/2014/main" id="{18C413ED-6A96-4B5E-9E07-6455B0DFB886}"/>
              </a:ext>
            </a:extLst>
          </p:cNvPr>
          <p:cNvSpPr>
            <a:spLocks noGrp="1"/>
          </p:cNvSpPr>
          <p:nvPr/>
        </p:nvSpPr>
        <p:spPr>
          <a:xfrm>
            <a:off x="571500" y="3857625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95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95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rPr>
              <a:t>WHY SPORT MATTERS  重要性与原因</a:t>
            </a:r>
          </a:p>
        </p:txBody>
      </p:sp>
      <p:sp>
        <p:nvSpPr>
          <p:cNvPr id="9" name="step_3__8">
            <a:extLst>
              <a:ext uri="{FF2B5EF4-FFF2-40B4-BE49-F238E27FC236}">
                <a16:creationId xmlns:a16="http://schemas.microsoft.com/office/drawing/2014/main" id="{989EA890-6881-4981-A872-2E0B54177B1C}"/>
              </a:ext>
            </a:extLst>
          </p:cNvPr>
          <p:cNvSpPr>
            <a:spLocks noGrp="1"/>
          </p:cNvSpPr>
          <p:nvPr/>
        </p:nvSpPr>
        <p:spPr>
          <a:xfrm>
            <a:off x="571500" y="4324350"/>
            <a:ext cx="10953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Sport helps us make friends.</a:t>
            </a:r>
          </a:p>
        </p:txBody>
      </p:sp>
      <p:sp>
        <p:nvSpPr>
          <p:cNvPr id="10" name="step_4__9">
            <a:extLst>
              <a:ext uri="{FF2B5EF4-FFF2-40B4-BE49-F238E27FC236}">
                <a16:creationId xmlns:a16="http://schemas.microsoft.com/office/drawing/2014/main" id="{A244AA04-E77C-4029-A2D3-C12C2A209C04}"/>
              </a:ext>
            </a:extLst>
          </p:cNvPr>
          <p:cNvSpPr>
            <a:spLocks noGrp="1"/>
          </p:cNvSpPr>
          <p:nvPr/>
        </p:nvSpPr>
        <p:spPr>
          <a:xfrm>
            <a:off x="571500" y="4905375"/>
            <a:ext cx="10953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 b="0">
                <a:solidFill>
                  <a:srgbClr val="4887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488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48876A"/>
                </a:solidFill>
                <a:latin typeface="Microsoft YaHei"/>
                <a:ea typeface="Microsoft YaHei"/>
                <a:cs typeface="Microsoft YaHei"/>
              </a:rPr>
              <a:t>When we join a team, we meet other young people</a:t>
            </a:r>
          </a:p>
          <a:p>
            <a:pPr>
              <a:defRPr sz="2400" b="0">
                <a:solidFill>
                  <a:srgbClr val="488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48876A"/>
                </a:solidFill>
                <a:latin typeface="Microsoft YaHei"/>
                <a:ea typeface="Microsoft YaHei"/>
                <a:cs typeface="Microsoft YaHei"/>
              </a:rPr>
              <a:t>and spend time with them every week.</a:t>
            </a:r>
          </a:p>
        </p:txBody>
      </p:sp>
      <p:sp>
        <p:nvSpPr>
          <p:cNvPr id="11" name="static_10">
            <a:extLst>
              <a:ext uri="{FF2B5EF4-FFF2-40B4-BE49-F238E27FC236}">
                <a16:creationId xmlns:a16="http://schemas.microsoft.com/office/drawing/2014/main" id="{A2652AC2-4AB9-4796-B1F2-9A5237D1F006}"/>
              </a:ext>
            </a:extLst>
          </p:cNvPr>
          <p:cNvSpPr>
            <a:spLocks noGrp="1"/>
          </p:cNvSpPr>
          <p:nvPr/>
        </p:nvSpPr>
        <p:spPr>
          <a:xfrm>
            <a:off x="571500" y="5953125"/>
            <a:ext cx="1095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rPr>
              <a:t>Your turn: Sport helps us feel less stressed. Add an explanation.</a:t>
            </a:r>
          </a:p>
        </p:txBody>
      </p:sp>
    </p:spTree>
    <p:extLst>
      <p:ext uri="{BB962C8B-B14F-4D97-AF65-F5344CB8AC3E}">
        <p14:creationId xmlns:p14="http://schemas.microsoft.com/office/powerpoint/2010/main" val="955635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atic_0">
            <a:extLst>
              <a:ext uri="{FF2B5EF4-FFF2-40B4-BE49-F238E27FC236}">
                <a16:creationId xmlns:a16="http://schemas.microsoft.com/office/drawing/2014/main" id="{B32FECCE-B6D2-46DD-9436-D1F88B4C051A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10953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85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rPr>
              <a:t>9. Writing scaffold</a:t>
            </a:r>
          </a:p>
        </p:txBody>
      </p:sp>
      <p:sp>
        <p:nvSpPr>
          <p:cNvPr id="2" name="static_1">
            <a:extLst>
              <a:ext uri="{FF2B5EF4-FFF2-40B4-BE49-F238E27FC236}">
                <a16:creationId xmlns:a16="http://schemas.microsoft.com/office/drawing/2014/main" id="{181CC5EC-2A78-4A8E-9203-9AB1D9FE2884}"/>
              </a:ext>
            </a:extLst>
          </p:cNvPr>
          <p:cNvSpPr>
            <a:spLocks noGrp="1"/>
          </p:cNvSpPr>
          <p:nvPr/>
        </p:nvSpPr>
        <p:spPr>
          <a:xfrm>
            <a:off x="571500" y="1000125"/>
            <a:ext cx="10953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rPr>
              <a:t>把前面的内容组织成文章；保留自己的观点和例子，约 100 词。</a:t>
            </a:r>
          </a:p>
        </p:txBody>
      </p:sp>
      <p:sp>
        <p:nvSpPr>
          <p:cNvPr id="3" name="static_2">
            <a:extLst>
              <a:ext uri="{FF2B5EF4-FFF2-40B4-BE49-F238E27FC236}">
                <a16:creationId xmlns:a16="http://schemas.microsoft.com/office/drawing/2014/main" id="{09F2DA29-1FE7-45FF-93D0-9F42719FF6B2}"/>
              </a:ext>
            </a:extLst>
          </p:cNvPr>
          <p:cNvSpPr>
            <a:spLocks noGrp="1"/>
          </p:cNvSpPr>
          <p:nvPr/>
        </p:nvSpPr>
        <p:spPr>
          <a:xfrm>
            <a:off x="571500" y="6438900"/>
            <a:ext cx="952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rPr>
              <a:t>PET Writing · Sport and exercise</a:t>
            </a:r>
          </a:p>
        </p:txBody>
      </p:sp>
      <p:sp>
        <p:nvSpPr>
          <p:cNvPr id="4" name="static_3">
            <a:extLst>
              <a:ext uri="{FF2B5EF4-FFF2-40B4-BE49-F238E27FC236}">
                <a16:creationId xmlns:a16="http://schemas.microsoft.com/office/drawing/2014/main" id="{1161E1C9-939C-4499-8C3E-9ED991EBB554}"/>
              </a:ext>
            </a:extLst>
          </p:cNvPr>
          <p:cNvSpPr>
            <a:spLocks noGrp="1"/>
          </p:cNvSpPr>
          <p:nvPr/>
        </p:nvSpPr>
        <p:spPr>
          <a:xfrm>
            <a:off x="11382375" y="6438900"/>
            <a:ext cx="38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5" name="step_1__4">
            <a:extLst>
              <a:ext uri="{FF2B5EF4-FFF2-40B4-BE49-F238E27FC236}">
                <a16:creationId xmlns:a16="http://schemas.microsoft.com/office/drawing/2014/main" id="{BBE32045-9480-4CEA-A14E-83CB82195E10}"/>
              </a:ext>
            </a:extLst>
          </p:cNvPr>
          <p:cNvSpPr>
            <a:spLocks noGrp="1"/>
          </p:cNvSpPr>
          <p:nvPr/>
        </p:nvSpPr>
        <p:spPr>
          <a:xfrm>
            <a:off x="571500" y="1676400"/>
            <a:ext cx="10953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TITLE + OPENING  标题与开头</a:t>
            </a:r>
          </a:p>
          <a:p>
            <a:pPr>
              <a:defRPr sz="2250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Choose a short title. Introduce sport in your area in one sentence.</a:t>
            </a:r>
          </a:p>
        </p:txBody>
      </p:sp>
      <p:sp>
        <p:nvSpPr>
          <p:cNvPr id="6" name="step_2__5">
            <a:extLst>
              <a:ext uri="{FF2B5EF4-FFF2-40B4-BE49-F238E27FC236}">
                <a16:creationId xmlns:a16="http://schemas.microsoft.com/office/drawing/2014/main" id="{CDE7BF3D-BD03-4F8C-B646-BAC6178FC99A}"/>
              </a:ext>
            </a:extLst>
          </p:cNvPr>
          <p:cNvSpPr>
            <a:spLocks noGrp="1"/>
          </p:cNvSpPr>
          <p:nvPr/>
        </p:nvSpPr>
        <p:spPr>
          <a:xfrm>
            <a:off x="571500" y="2771775"/>
            <a:ext cx="1095375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LOCAL SITUATION  当地活动是否足够</a:t>
            </a:r>
          </a:p>
          <a:p>
            <a:pPr>
              <a:defRPr sz="2250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There are enough / not enough … because …</a:t>
            </a:r>
          </a:p>
          <a:p>
            <a:pPr>
              <a:defRPr sz="2250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For example, …</a:t>
            </a:r>
          </a:p>
        </p:txBody>
      </p:sp>
      <p:sp>
        <p:nvSpPr>
          <p:cNvPr id="7" name="step_3__6">
            <a:extLst>
              <a:ext uri="{FF2B5EF4-FFF2-40B4-BE49-F238E27FC236}">
                <a16:creationId xmlns:a16="http://schemas.microsoft.com/office/drawing/2014/main" id="{AE28F111-BE72-4853-A0CC-8F9BE56FA181}"/>
              </a:ext>
            </a:extLst>
          </p:cNvPr>
          <p:cNvSpPr>
            <a:spLocks noGrp="1"/>
          </p:cNvSpPr>
          <p:nvPr/>
        </p:nvSpPr>
        <p:spPr>
          <a:xfrm>
            <a:off x="571500" y="4143375"/>
            <a:ext cx="1095375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IMPORTANCE + WHY  是否重要与原因</a:t>
            </a:r>
          </a:p>
          <a:p>
            <a:pPr>
              <a:defRPr sz="2250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I think it is important for young people to …</a:t>
            </a:r>
          </a:p>
          <a:p>
            <a:pPr>
              <a:defRPr sz="2250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… helps us … because / when …</a:t>
            </a:r>
          </a:p>
        </p:txBody>
      </p:sp>
      <p:sp>
        <p:nvSpPr>
          <p:cNvPr id="8" name="step_4__7">
            <a:extLst>
              <a:ext uri="{FF2B5EF4-FFF2-40B4-BE49-F238E27FC236}">
                <a16:creationId xmlns:a16="http://schemas.microsoft.com/office/drawing/2014/main" id="{69B04BBC-85BB-4139-A799-58E327411FDA}"/>
              </a:ext>
            </a:extLst>
          </p:cNvPr>
          <p:cNvSpPr>
            <a:spLocks noGrp="1"/>
          </p:cNvSpPr>
          <p:nvPr/>
        </p:nvSpPr>
        <p:spPr>
          <a:xfrm>
            <a:off x="571500" y="5514975"/>
            <a:ext cx="10953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75" b="0">
                <a:solidFill>
                  <a:srgbClr val="4887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488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48876A"/>
                </a:solidFill>
                <a:latin typeface="Microsoft YaHei"/>
                <a:ea typeface="Microsoft YaHei"/>
                <a:cs typeface="Microsoft YaHei"/>
              </a:rPr>
              <a:t>SHORT ENDING  简短收尾</a:t>
            </a:r>
          </a:p>
          <a:p>
            <a:pPr>
              <a:defRPr sz="2175" b="0">
                <a:solidFill>
                  <a:srgbClr val="488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48876A"/>
                </a:solidFill>
                <a:latin typeface="Microsoft YaHei"/>
                <a:ea typeface="Microsoft YaHei"/>
                <a:cs typeface="Microsoft YaHei"/>
              </a:rPr>
              <a:t>Give a suggestion or encourage readers to try an activity.</a:t>
            </a:r>
          </a:p>
        </p:txBody>
      </p:sp>
    </p:spTree>
    <p:extLst>
      <p:ext uri="{BB962C8B-B14F-4D97-AF65-F5344CB8AC3E}">
        <p14:creationId xmlns:p14="http://schemas.microsoft.com/office/powerpoint/2010/main" val="1384687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0">
            <a:extLst>
              <a:ext uri="{FF2B5EF4-FFF2-40B4-BE49-F238E27FC236}">
                <a16:creationId xmlns:a16="http://schemas.microsoft.com/office/drawing/2014/main" id="{83231E6E-AA99-46FE-AAC4-FEC8F24F0B4A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10953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85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4581B5"/>
                </a:solidFill>
                <a:latin typeface="Microsoft YaHei"/>
                <a:ea typeface="Microsoft YaHei"/>
                <a:cs typeface="Microsoft YaHei"/>
              </a:rPr>
              <a:t>10. Final checklist</a:t>
            </a:r>
          </a:p>
        </p:txBody>
      </p:sp>
      <p:sp>
        <p:nvSpPr>
          <p:cNvPr id="2" name="static_1">
            <a:extLst>
              <a:ext uri="{FF2B5EF4-FFF2-40B4-BE49-F238E27FC236}">
                <a16:creationId xmlns:a16="http://schemas.microsoft.com/office/drawing/2014/main" id="{3BAEDB48-6C1E-429C-A53E-D9DA47900445}"/>
              </a:ext>
            </a:extLst>
          </p:cNvPr>
          <p:cNvSpPr>
            <a:spLocks noGrp="1"/>
          </p:cNvSpPr>
          <p:nvPr/>
        </p:nvSpPr>
        <p:spPr>
          <a:xfrm>
            <a:off x="571500" y="1000125"/>
            <a:ext cx="10953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 err="1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rPr>
              <a:t>写完先查是否答全题目，再查观点展开和语言</a:t>
            </a:r>
            <a:r>
              <a:rPr sz="1800" b="0" dirty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" name="static_2">
            <a:extLst>
              <a:ext uri="{FF2B5EF4-FFF2-40B4-BE49-F238E27FC236}">
                <a16:creationId xmlns:a16="http://schemas.microsoft.com/office/drawing/2014/main" id="{A574CCD1-8A6D-45E7-BA83-8E14B914B519}"/>
              </a:ext>
            </a:extLst>
          </p:cNvPr>
          <p:cNvSpPr>
            <a:spLocks noGrp="1"/>
          </p:cNvSpPr>
          <p:nvPr/>
        </p:nvSpPr>
        <p:spPr>
          <a:xfrm>
            <a:off x="571500" y="6438900"/>
            <a:ext cx="952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rPr>
              <a:t>PET Writing · Sport and exercise</a:t>
            </a:r>
          </a:p>
        </p:txBody>
      </p:sp>
      <p:sp>
        <p:nvSpPr>
          <p:cNvPr id="4" name="static_3">
            <a:extLst>
              <a:ext uri="{FF2B5EF4-FFF2-40B4-BE49-F238E27FC236}">
                <a16:creationId xmlns:a16="http://schemas.microsoft.com/office/drawing/2014/main" id="{02F7B721-0204-4F31-963A-880F49671980}"/>
              </a:ext>
            </a:extLst>
          </p:cNvPr>
          <p:cNvSpPr>
            <a:spLocks noGrp="1"/>
          </p:cNvSpPr>
          <p:nvPr/>
        </p:nvSpPr>
        <p:spPr>
          <a:xfrm>
            <a:off x="11382375" y="6438900"/>
            <a:ext cx="38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77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step_1__4">
            <a:extLst>
              <a:ext uri="{FF2B5EF4-FFF2-40B4-BE49-F238E27FC236}">
                <a16:creationId xmlns:a16="http://schemas.microsoft.com/office/drawing/2014/main" id="{515FB752-5720-4F9F-9D17-494CB74FB832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10953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 dirty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1. Did I say whether there are enough activities in my area?</a:t>
            </a:r>
          </a:p>
        </p:txBody>
      </p:sp>
      <p:sp>
        <p:nvSpPr>
          <p:cNvPr id="6" name="step_2__5">
            <a:extLst>
              <a:ext uri="{FF2B5EF4-FFF2-40B4-BE49-F238E27FC236}">
                <a16:creationId xmlns:a16="http://schemas.microsoft.com/office/drawing/2014/main" id="{A65DF6B1-86AF-492C-AD75-5EEF85CC74BB}"/>
              </a:ext>
            </a:extLst>
          </p:cNvPr>
          <p:cNvSpPr>
            <a:spLocks noGrp="1"/>
          </p:cNvSpPr>
          <p:nvPr/>
        </p:nvSpPr>
        <p:spPr>
          <a:xfrm>
            <a:off x="571500" y="2486025"/>
            <a:ext cx="10953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2. Did I support this with a specific local example?</a:t>
            </a:r>
          </a:p>
        </p:txBody>
      </p:sp>
      <p:sp>
        <p:nvSpPr>
          <p:cNvPr id="7" name="step_3__6">
            <a:extLst>
              <a:ext uri="{FF2B5EF4-FFF2-40B4-BE49-F238E27FC236}">
                <a16:creationId xmlns:a16="http://schemas.microsoft.com/office/drawing/2014/main" id="{E139E384-92C3-417E-B191-137875E87B95}"/>
              </a:ext>
            </a:extLst>
          </p:cNvPr>
          <p:cNvSpPr>
            <a:spLocks noGrp="1"/>
          </p:cNvSpPr>
          <p:nvPr/>
        </p:nvSpPr>
        <p:spPr>
          <a:xfrm>
            <a:off x="571500" y="3209925"/>
            <a:ext cx="10953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3. Did I say whether sport is important and explain why?</a:t>
            </a:r>
          </a:p>
        </p:txBody>
      </p:sp>
      <p:sp>
        <p:nvSpPr>
          <p:cNvPr id="8" name="step_4__7">
            <a:extLst>
              <a:ext uri="{FF2B5EF4-FFF2-40B4-BE49-F238E27FC236}">
                <a16:creationId xmlns:a16="http://schemas.microsoft.com/office/drawing/2014/main" id="{ACE76D12-05E5-4485-BE72-19974DBAD0B0}"/>
              </a:ext>
            </a:extLst>
          </p:cNvPr>
          <p:cNvSpPr>
            <a:spLocks noGrp="1"/>
          </p:cNvSpPr>
          <p:nvPr/>
        </p:nvSpPr>
        <p:spPr>
          <a:xfrm>
            <a:off x="571500" y="3933825"/>
            <a:ext cx="10953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4. Did I check enough, verb forms and linking expressions?</a:t>
            </a:r>
          </a:p>
        </p:txBody>
      </p:sp>
      <p:sp>
        <p:nvSpPr>
          <p:cNvPr id="9" name="step_5__8">
            <a:extLst>
              <a:ext uri="{FF2B5EF4-FFF2-40B4-BE49-F238E27FC236}">
                <a16:creationId xmlns:a16="http://schemas.microsoft.com/office/drawing/2014/main" id="{069F0294-967D-4CC8-960E-63969EBDA686}"/>
              </a:ext>
            </a:extLst>
          </p:cNvPr>
          <p:cNvSpPr>
            <a:spLocks noGrp="1"/>
          </p:cNvSpPr>
          <p:nvPr/>
        </p:nvSpPr>
        <p:spPr>
          <a:xfrm>
            <a:off x="571500" y="4657725"/>
            <a:ext cx="10953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F3149"/>
                </a:solidFill>
                <a:latin typeface="Microsoft YaHei"/>
                <a:ea typeface="Microsoft YaHei"/>
                <a:cs typeface="Microsoft YaHei"/>
              </a:rPr>
              <a:t>5. Does my article suit website readers and have about 100 words?</a:t>
            </a:r>
          </a:p>
        </p:txBody>
      </p:sp>
      <p:sp>
        <p:nvSpPr>
          <p:cNvPr id="10" name="step_6__9">
            <a:extLst>
              <a:ext uri="{FF2B5EF4-FFF2-40B4-BE49-F238E27FC236}">
                <a16:creationId xmlns:a16="http://schemas.microsoft.com/office/drawing/2014/main" id="{DBC369B7-805B-4E0E-89FB-C86467D78073}"/>
              </a:ext>
            </a:extLst>
          </p:cNvPr>
          <p:cNvSpPr>
            <a:spLocks noGrp="1"/>
          </p:cNvSpPr>
          <p:nvPr/>
        </p:nvSpPr>
        <p:spPr>
          <a:xfrm>
            <a:off x="571500" y="5629275"/>
            <a:ext cx="10953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75" b="1">
                <a:solidFill>
                  <a:srgbClr val="4887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488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48876A"/>
                </a:solidFill>
                <a:latin typeface="Microsoft YaHei"/>
                <a:ea typeface="Microsoft YaHei"/>
                <a:cs typeface="Microsoft YaHei"/>
              </a:rPr>
              <a:t>Write your article using your own ideas.</a:t>
            </a:r>
          </a:p>
        </p:txBody>
      </p:sp>
    </p:spTree>
    <p:extLst>
      <p:ext uri="{BB962C8B-B14F-4D97-AF65-F5344CB8AC3E}">
        <p14:creationId xmlns:p14="http://schemas.microsoft.com/office/powerpoint/2010/main" val="1827910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858</Words>
  <Application>Microsoft Office PowerPoint</Application>
  <DocSecurity>0</DocSecurity>
  <PresentationFormat>宽屏</PresentationFormat>
  <Paragraphs>128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2" baseType="lpstr">
      <vt:lpstr>Microsoft YaHei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chenjie</cp:lastModifiedBy>
  <cp:revision>1</cp:revision>
  <dcterms:created xsi:type="dcterms:W3CDTF">2026-10-13T08:04:09Z</dcterms:created>
  <dcterms:modified xsi:type="dcterms:W3CDTF">2026-10-13T08:55:04Z</dcterms:modified>
</cp:coreProperties>
</file>