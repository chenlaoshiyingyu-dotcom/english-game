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Microsoft YaHei"/>
        <a:ea typeface="Microsoft YaHei"/>
        <a:cs typeface="Microsoft YaHe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Microsoft YaHei"/>
        <a:ea typeface="Microsoft YaHei"/>
        <a:cs typeface="Microsoft YaHei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导入：今天写杂志文章，约100词。先让学生概括任务，再单击显示核心目标。</a:t>
            </a:r>
          </a:p>
          <a:p>
            <a:r>
              <a:t>单击1：ONE activity + WHY people enjoy 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题干按用户图片转录。英文杂志征集文章，优秀文章会在网站刊登。先请学生圈出 a free-time activity / young people / in your country / Why。本题不要求评价当地运动设施是否足够，也不限于运动。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单击1：ONE free-time activity；单击2：Young people in your country；单击3：Reasons + specific details。国别不必固定为中国；学生按自己真实背景写。可以有两个清楚的原因，但不是题目硬性要求的数量。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图片依次为打篮球、读纸质书、弹吉他、游泳；初始只显示图片。</a:t>
            </a:r>
          </a:p>
          <a:p>
            <a:r>
              <a:t>单击1：play basketball；单击2：read books；单击3：play the guitar；单击4：go swimming。</a:t>
            </a:r>
          </a:p>
          <a:p>
            <a:r>
              <a:t>每项先等学生回答，再单击。接受 reading / reading books 等正确表达，随后归纳常用搭配。追问：Which one is popular with young people in your country?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先看左栏，让学生口头给出一个原因和一个细节。单击1：篮球；单击2：阅读；单击3：吉他。每行只是可能的写法，并非关于整个国家的统计结论。最终只选一项；不要求把所有活动写进文章。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先问：仅写 I like basketball 是否回答了 young people in your country？再单击。单击1：活动与国家；单击2：学校中可观察到的具体情况。学生只在情况属实时使用此句；不编造调查数字，不要求国家级数据。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篮球作为贯穿示例。每次先问学生，再揭晓。单击1：朋友相处的原因；单击2：放学后一起打球的细节；单击3：容易开始；单击4：球与场地。可接受其他合理原因，不把“运动对年轻人重要”当成本题必须回答的第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参考课件的逐步扩句方式。原句先显示；单击1显示 because 解释；单击2显示具体例子。强调这三步是思考过程，不要求把 It is fun 重复写三次。实际写作只保留展开后的自然表达。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六次单击，依次为左栏由上到下，再右栏由上到下。先让学生回忆或尝试补充表达，再揭晓。popularity 表达 be popular with；作文视角保持一致：they/their/themselves，个人例子可用 I/my。活动搭配见看图回顾页。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按行单击显示例句：because、for example/for instance、also、so。for example 与 for instance 在本页例句中都正确，不设置唯一替换答案。because 引导原因；so 连接结果；同一关系不用 because...so... 的组合。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先给学生思考时间，再逐题单击。单击1：because；单击2：For example / For instance，二者都接受；单击3：also。也可接受其他符合语义与句法的表达，例如第1题 since；应解释为什么成立。不要要求每个词只能用一次。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此页不提供统一范答。让学生选一项活动并口头展开，不能要求全部选篮球。追问例子如何解释原因。最后一次单击只给细节角度提示，不填入学生判断和例子。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三次单击逐段出现框架：引出活动；展开原因；自然收尾。标题可自拟；不是固定必背句型。They often 后填写真实情况，两个原因只是建议。保留全部关键内容为空。OR 表示二选一，不抄进作文。约100词，以答全题目和解释清楚为先。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学生独立写作，再自查。五项检查全部保持可见，便于使用；它们是检查问题，不是待揭晓的答案。标题可简短自然。下一页范文放在独立写作之后，按实际课堂进度选择是否展示。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示例正文 93 词（不含标题）。示例背景为中国；学校与周末打球的细节是示例叙述，学生按真实情况替换。</a:t>
            </a:r>
          </a:p>
          <a:p>
            <a:r>
              <a:t>单击1：活动、国家和受欢迎的具体表现。单击2：朋友相处、容易开始、放松，以及周末在公园打球的细节。单击3：自然收尾并邀请读者尝试。</a:t>
            </a:r>
          </a:p>
          <a:p>
            <a:r>
              <a:t>让学生对比自己的内容，不要求背诵范文，也不要求写相同原因。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Microsoft YaHei"/>
          <a:ea typeface="Microsoft YaHei"/>
          <a:cs typeface="Microsoft YaHe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0996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PET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学习目标｜选定一项活动，用具体细节解释它为什么受欢迎。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FREE-TIME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789920" cy="82296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Article: Free-time activities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80944"/>
            <a:ext cx="10515600" cy="59436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审题 → 看图回顾 → 展开原因 → 组织语言 → 独立写作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187952"/>
            <a:ext cx="2743200" cy="822960"/>
          </a:xfrm>
          <a:prstGeom prst="roundRect">
            <a:avLst>
              <a:gd name="adj" fmla="val 8000"/>
            </a:avLst>
          </a:prstGeom>
          <a:solidFill>
            <a:srgbClr val="EEF5FB"/>
          </a:solidFill>
          <a:ln w="10160">
            <a:solidFill>
              <a:srgbClr val="CBDC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4297680"/>
            <a:ext cx="2596896" cy="53035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About 100 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4233672"/>
            <a:ext cx="7315200" cy="722376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ONE activity + WHY people enjoy it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0996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1. Read the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审题｜先读原题：文章写给谁？需要回答什么？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FREE-TIME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0607040" cy="43891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Articles wanted!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10607040" cy="56692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Free-time activities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10332720" cy="98755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Tell us about a free-time activity which is popular with young people in your country.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04487"/>
            <a:ext cx="10332720" cy="66751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Why do people enjoy it so much?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332720" cy="7772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Write an article answering these questions and we’ll publish the most interesting ones on our website.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33272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Write your answer in about 100 words.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0996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2. What must we include?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审题拆解｜每次先回答一个问题，再单击核对。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FREE-TIME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2267712" cy="111556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What?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246120" y="1664208"/>
            <a:ext cx="8001000" cy="1115568"/>
            <a:chOff x="3246120" y="1664208"/>
            <a:chExt cx="8001000" cy="1115568"/>
          </a:xfrm>
        </p:grpSpPr>
        <p:sp>
          <p:nvSpPr>
            <p:cNvPr id="10" name="Rectangle 9"/>
            <p:cNvSpPr/>
            <p:nvPr/>
          </p:nvSpPr>
          <p:spPr>
            <a:xfrm>
              <a:off x="3246120" y="1664208"/>
              <a:ext cx="8001000" cy="1115568"/>
            </a:xfrm>
            <a:prstGeom prst="rect">
              <a:avLst/>
            </a:prstGeom>
            <a:solidFill>
              <a:srgbClr val="EEF5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46120" y="1664208"/>
              <a:ext cx="8001000" cy="594360"/>
            </a:xfrm>
            <a:prstGeom prst="rect">
              <a:avLst/>
            </a:prstGeom>
            <a:noFill/>
          </p:spPr>
          <p:txBody>
            <a:bodyPr wrap="square" lIns="109728" rIns="109728" anchor="ctr">
              <a:spAutoFit/>
            </a:bodyPr>
            <a:lstStyle/>
            <a:p>
              <a:pPr>
                <a:lnSpc>
                  <a:spcPct val="11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sz="2500" b="0">
                  <a:solidFill>
                    <a:srgbClr val="203448"/>
                  </a:solidFill>
                  <a:latin typeface="Microsoft YaHei"/>
                  <a:ea typeface="Microsoft YaHei"/>
                  <a:cs typeface="Microsoft YaHei"/>
                </a:rPr>
                <a:t>ONE free-time activity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46120" y="2194560"/>
              <a:ext cx="8001000" cy="585216"/>
            </a:xfrm>
            <a:prstGeom prst="rect">
              <a:avLst/>
            </a:prstGeom>
            <a:noFill/>
          </p:spPr>
          <p:txBody>
            <a:bodyPr wrap="square" lIns="109728" rIns="109728" anchor="ctr">
              <a:spAutoFit/>
            </a:bodyPr>
            <a:lstStyle/>
            <a:p>
              <a:pPr>
                <a:lnSpc>
                  <a:spcPct val="11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sz="2100" b="0">
                  <a:solidFill>
                    <a:srgbClr val="203448"/>
                  </a:solidFill>
                  <a:latin typeface="Microsoft YaHei"/>
                  <a:ea typeface="Microsoft YaHei"/>
                  <a:cs typeface="Microsoft YaHei"/>
                </a:rPr>
                <a:t>选一项能讲清楚的活动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777240" y="2898648"/>
            <a:ext cx="2267712" cy="111556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Who?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Where?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3246120" y="2898648"/>
            <a:ext cx="8001000" cy="1115568"/>
            <a:chOff x="3246120" y="2898648"/>
            <a:chExt cx="8001000" cy="1115568"/>
          </a:xfrm>
        </p:grpSpPr>
        <p:sp>
          <p:nvSpPr>
            <p:cNvPr id="15" name="Rectangle 14"/>
            <p:cNvSpPr/>
            <p:nvPr/>
          </p:nvSpPr>
          <p:spPr>
            <a:xfrm>
              <a:off x="3246120" y="2898648"/>
              <a:ext cx="8001000" cy="1115568"/>
            </a:xfrm>
            <a:prstGeom prst="rect">
              <a:avLst/>
            </a:prstGeom>
            <a:solidFill>
              <a:srgbClr val="EEF5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246120" y="2898648"/>
              <a:ext cx="8001000" cy="594360"/>
            </a:xfrm>
            <a:prstGeom prst="rect">
              <a:avLst/>
            </a:prstGeom>
            <a:noFill/>
          </p:spPr>
          <p:txBody>
            <a:bodyPr wrap="square" lIns="109728" rIns="109728" anchor="ctr">
              <a:spAutoFit/>
            </a:bodyPr>
            <a:lstStyle/>
            <a:p>
              <a:pPr>
                <a:lnSpc>
                  <a:spcPct val="11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sz="2500" b="0">
                  <a:solidFill>
                    <a:srgbClr val="203448"/>
                  </a:solidFill>
                  <a:latin typeface="Microsoft YaHei"/>
                  <a:ea typeface="Microsoft YaHei"/>
                  <a:cs typeface="Microsoft YaHei"/>
                </a:rPr>
                <a:t>Young people in your country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246120" y="3429000"/>
              <a:ext cx="8001000" cy="585216"/>
            </a:xfrm>
            <a:prstGeom prst="rect">
              <a:avLst/>
            </a:prstGeom>
            <a:noFill/>
          </p:spPr>
          <p:txBody>
            <a:bodyPr wrap="square" lIns="109728" rIns="109728" anchor="ctr">
              <a:spAutoFit/>
            </a:bodyPr>
            <a:lstStyle/>
            <a:p>
              <a:pPr>
                <a:lnSpc>
                  <a:spcPct val="11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sz="2100" b="0">
                  <a:solidFill>
                    <a:srgbClr val="203448"/>
                  </a:solidFill>
                  <a:latin typeface="Microsoft YaHei"/>
                  <a:ea typeface="Microsoft YaHei"/>
                  <a:cs typeface="Microsoft YaHei"/>
                </a:rPr>
                <a:t>补充活动的参与者和时间地点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777240" y="4133088"/>
            <a:ext cx="2267712" cy="111556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Why?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3246120" y="4133088"/>
            <a:ext cx="8001000" cy="1115568"/>
            <a:chOff x="3246120" y="4133088"/>
            <a:chExt cx="8001000" cy="1115568"/>
          </a:xfrm>
        </p:grpSpPr>
        <p:sp>
          <p:nvSpPr>
            <p:cNvPr id="20" name="Rectangle 19"/>
            <p:cNvSpPr/>
            <p:nvPr/>
          </p:nvSpPr>
          <p:spPr>
            <a:xfrm>
              <a:off x="3246120" y="4133088"/>
              <a:ext cx="8001000" cy="1115568"/>
            </a:xfrm>
            <a:prstGeom prst="rect">
              <a:avLst/>
            </a:prstGeom>
            <a:solidFill>
              <a:srgbClr val="EEF5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46120" y="4133088"/>
              <a:ext cx="8001000" cy="594360"/>
            </a:xfrm>
            <a:prstGeom prst="rect">
              <a:avLst/>
            </a:prstGeom>
            <a:noFill/>
          </p:spPr>
          <p:txBody>
            <a:bodyPr wrap="square" lIns="109728" rIns="109728" anchor="ctr">
              <a:spAutoFit/>
            </a:bodyPr>
            <a:lstStyle/>
            <a:p>
              <a:pPr>
                <a:lnSpc>
                  <a:spcPct val="11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sz="2500" b="0">
                  <a:solidFill>
                    <a:srgbClr val="203448"/>
                  </a:solidFill>
                  <a:latin typeface="Microsoft YaHei"/>
                  <a:ea typeface="Microsoft YaHei"/>
                  <a:cs typeface="Microsoft YaHei"/>
                </a:rPr>
                <a:t>Reasons + specific details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46120" y="4663440"/>
              <a:ext cx="8001000" cy="585216"/>
            </a:xfrm>
            <a:prstGeom prst="rect">
              <a:avLst/>
            </a:prstGeom>
            <a:noFill/>
          </p:spPr>
          <p:txBody>
            <a:bodyPr wrap="square" lIns="109728" rIns="109728" anchor="ctr">
              <a:spAutoFit/>
            </a:bodyPr>
            <a:lstStyle/>
            <a:p>
              <a:pPr>
                <a:lnSpc>
                  <a:spcPct val="11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sz="2100" b="0">
                  <a:solidFill>
                    <a:srgbClr val="203448"/>
                  </a:solidFill>
                  <a:latin typeface="Microsoft YaHei"/>
                  <a:ea typeface="Microsoft YaHei"/>
                  <a:cs typeface="Microsoft YaHei"/>
                </a:rPr>
                <a:t>解释喜欢的原因，再给具体说明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868680" y="5623560"/>
            <a:ext cx="10424160" cy="50292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用一项活动贯穿全文；原因要有具体细节支撑。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9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0996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3. Brainstorm: look and say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看图回顾｜先说活动，再说英文搭配；单击逐项揭晓。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FREE-TIME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8" name="Picture 7" descr="exec-8e9b6bb8-86fe-4ab0-8d71-fbcebe7a63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91640"/>
            <a:ext cx="10789920" cy="37490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5559552"/>
            <a:ext cx="2697480" cy="548640"/>
          </a:xfrm>
          <a:prstGeom prst="rect">
            <a:avLst/>
          </a:prstGeom>
          <a:solidFill>
            <a:srgbClr val="EEF5FB"/>
          </a:solidFill>
        </p:spPr>
        <p:txBody>
          <a:bodyPr wrap="square" lIns="27432" rIns="27432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play basketball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0712" y="5559552"/>
            <a:ext cx="2697480" cy="548640"/>
          </a:xfrm>
          <a:prstGeom prst="rect">
            <a:avLst/>
          </a:prstGeom>
          <a:solidFill>
            <a:srgbClr val="EEF5FB"/>
          </a:solidFill>
        </p:spPr>
        <p:txBody>
          <a:bodyPr wrap="square" lIns="27432" rIns="27432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read books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5559552"/>
            <a:ext cx="2697480" cy="548640"/>
          </a:xfrm>
          <a:prstGeom prst="rect">
            <a:avLst/>
          </a:prstGeom>
          <a:solidFill>
            <a:srgbClr val="EEF5FB"/>
          </a:solidFill>
        </p:spPr>
        <p:txBody>
          <a:bodyPr wrap="square" lIns="27432" rIns="27432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play the guitar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5672" y="5559552"/>
            <a:ext cx="2697480" cy="548640"/>
          </a:xfrm>
          <a:prstGeom prst="rect">
            <a:avLst/>
          </a:prstGeom>
          <a:solidFill>
            <a:srgbClr val="EEF5FB"/>
          </a:solidFill>
        </p:spPr>
        <p:txBody>
          <a:bodyPr wrap="square" lIns="27432" rIns="27432" anchor="ctr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go swimming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0996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4. Choose ONE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内容构思｜选一项熟悉的活动：原因是什么？有什么具体细节？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FREE-TIME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2240280" cy="6126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627632"/>
            <a:ext cx="3611880" cy="6126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Why enjoy 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627632"/>
            <a:ext cx="4572000" cy="61264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One specific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2240280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Basketball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108960" y="2423160"/>
            <a:ext cx="8321040" cy="859536"/>
            <a:chOff x="3108960" y="2423160"/>
            <a:chExt cx="8321040" cy="859536"/>
          </a:xfrm>
        </p:grpSpPr>
        <p:sp>
          <p:nvSpPr>
            <p:cNvPr id="13" name="TextBox 12"/>
            <p:cNvSpPr txBox="1"/>
            <p:nvPr/>
          </p:nvSpPr>
          <p:spPr>
            <a:xfrm>
              <a:off x="3108960" y="2423160"/>
              <a:ext cx="3611880" cy="859536"/>
            </a:xfrm>
            <a:prstGeom prst="rect">
              <a:avLst/>
            </a:prstGeom>
            <a:solidFill>
              <a:srgbClr val="EEF5FB"/>
            </a:solidFill>
          </p:spPr>
          <p:txBody>
            <a:bodyPr wrap="square" lIns="109728" rIns="109728" anchor="ctr">
              <a:spAutoFit/>
            </a:bodyPr>
            <a:lstStyle/>
            <a:p>
              <a:pPr>
                <a:lnSpc>
                  <a:spcPct val="11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sz="2300" b="0">
                  <a:solidFill>
                    <a:srgbClr val="203448"/>
                  </a:solidFill>
                  <a:latin typeface="Microsoft YaHei"/>
                  <a:ea typeface="Microsoft YaHei"/>
                  <a:cs typeface="Microsoft YaHei"/>
                </a:rPr>
                <a:t>Time with friends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858000" y="2423160"/>
              <a:ext cx="4572000" cy="859536"/>
            </a:xfrm>
            <a:prstGeom prst="rect">
              <a:avLst/>
            </a:prstGeom>
            <a:solidFill>
              <a:srgbClr val="EEF5FB"/>
            </a:solidFill>
          </p:spPr>
          <p:txBody>
            <a:bodyPr wrap="square" lIns="109728" rIns="109728" anchor="ctr">
              <a:spAutoFit/>
            </a:bodyPr>
            <a:lstStyle/>
            <a:p>
              <a:pPr>
                <a:lnSpc>
                  <a:spcPct val="11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sz="2300" b="0">
                  <a:solidFill>
                    <a:srgbClr val="203448"/>
                  </a:solidFill>
                  <a:latin typeface="Microsoft YaHei"/>
                  <a:ea typeface="Microsoft YaHei"/>
                  <a:cs typeface="Microsoft YaHei"/>
                </a:rPr>
                <a:t>Classmates can play</a:t>
              </a:r>
            </a:p>
            <a:p>
              <a:pPr>
                <a:lnSpc>
                  <a:spcPct val="11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sz="2300" b="0">
                  <a:solidFill>
                    <a:srgbClr val="203448"/>
                  </a:solidFill>
                  <a:latin typeface="Microsoft YaHei"/>
                  <a:ea typeface="Microsoft YaHei"/>
                  <a:cs typeface="Microsoft YaHei"/>
                </a:rPr>
                <a:t>together after school.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731520" y="3364991"/>
            <a:ext cx="2240280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Reading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3108960" y="3364991"/>
            <a:ext cx="8321040" cy="859536"/>
            <a:chOff x="3108960" y="3364991"/>
            <a:chExt cx="8321040" cy="859536"/>
          </a:xfrm>
        </p:grpSpPr>
        <p:sp>
          <p:nvSpPr>
            <p:cNvPr id="17" name="TextBox 16"/>
            <p:cNvSpPr txBox="1"/>
            <p:nvPr/>
          </p:nvSpPr>
          <p:spPr>
            <a:xfrm>
              <a:off x="3108960" y="3364991"/>
              <a:ext cx="3611880" cy="859536"/>
            </a:xfrm>
            <a:prstGeom prst="rect">
              <a:avLst/>
            </a:prstGeom>
            <a:solidFill>
              <a:srgbClr val="EEF5FB"/>
            </a:solidFill>
          </p:spPr>
          <p:txBody>
            <a:bodyPr wrap="square" lIns="109728" rIns="109728" anchor="ctr">
              <a:spAutoFit/>
            </a:bodyPr>
            <a:lstStyle/>
            <a:p>
              <a:pPr>
                <a:lnSpc>
                  <a:spcPct val="11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sz="2300" b="0">
                  <a:solidFill>
                    <a:srgbClr val="203448"/>
                  </a:solidFill>
                  <a:latin typeface="Microsoft YaHei"/>
                  <a:ea typeface="Microsoft YaHei"/>
                  <a:cs typeface="Microsoft YaHei"/>
                </a:rPr>
                <a:t>A way to relax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858000" y="3364991"/>
              <a:ext cx="4572000" cy="859536"/>
            </a:xfrm>
            <a:prstGeom prst="rect">
              <a:avLst/>
            </a:prstGeom>
            <a:solidFill>
              <a:srgbClr val="EEF5FB"/>
            </a:solidFill>
          </p:spPr>
          <p:txBody>
            <a:bodyPr wrap="square" lIns="109728" rIns="109728" anchor="ctr">
              <a:spAutoFit/>
            </a:bodyPr>
            <a:lstStyle/>
            <a:p>
              <a:pPr>
                <a:lnSpc>
                  <a:spcPct val="11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sz="2300" b="0">
                  <a:solidFill>
                    <a:srgbClr val="203448"/>
                  </a:solidFill>
                  <a:latin typeface="Microsoft YaHei"/>
                  <a:ea typeface="Microsoft YaHei"/>
                  <a:cs typeface="Microsoft YaHei"/>
                </a:rPr>
                <a:t>A funny story can help</a:t>
              </a:r>
            </a:p>
            <a:p>
              <a:pPr>
                <a:lnSpc>
                  <a:spcPct val="11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sz="2300" b="0">
                  <a:solidFill>
                    <a:srgbClr val="203448"/>
                  </a:solidFill>
                  <a:latin typeface="Microsoft YaHei"/>
                  <a:ea typeface="Microsoft YaHei"/>
                  <a:cs typeface="Microsoft YaHei"/>
                </a:rPr>
                <a:t>them forget a busy day.</a:t>
              </a: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731520" y="4306824"/>
            <a:ext cx="2240280" cy="85953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Playing the guitar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108960" y="4306824"/>
            <a:ext cx="8321040" cy="859536"/>
            <a:chOff x="3108960" y="4306824"/>
            <a:chExt cx="8321040" cy="859536"/>
          </a:xfrm>
        </p:grpSpPr>
        <p:sp>
          <p:nvSpPr>
            <p:cNvPr id="21" name="TextBox 20"/>
            <p:cNvSpPr txBox="1"/>
            <p:nvPr/>
          </p:nvSpPr>
          <p:spPr>
            <a:xfrm>
              <a:off x="3108960" y="4306824"/>
              <a:ext cx="3611880" cy="859536"/>
            </a:xfrm>
            <a:prstGeom prst="rect">
              <a:avLst/>
            </a:prstGeom>
            <a:solidFill>
              <a:srgbClr val="EEF5FB"/>
            </a:solidFill>
          </p:spPr>
          <p:txBody>
            <a:bodyPr wrap="square" lIns="109728" rIns="109728" anchor="ctr">
              <a:spAutoFit/>
            </a:bodyPr>
            <a:lstStyle/>
            <a:p>
              <a:pPr>
                <a:lnSpc>
                  <a:spcPct val="11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sz="2300" b="0">
                  <a:solidFill>
                    <a:srgbClr val="203448"/>
                  </a:solidFill>
                  <a:latin typeface="Microsoft YaHei"/>
                  <a:ea typeface="Microsoft YaHei"/>
                  <a:cs typeface="Microsoft YaHei"/>
                </a:rPr>
                <a:t>A sense of progress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858000" y="4306824"/>
              <a:ext cx="4572000" cy="859536"/>
            </a:xfrm>
            <a:prstGeom prst="rect">
              <a:avLst/>
            </a:prstGeom>
            <a:solidFill>
              <a:srgbClr val="EEF5FB"/>
            </a:solidFill>
          </p:spPr>
          <p:txBody>
            <a:bodyPr wrap="square" lIns="109728" rIns="109728" anchor="ctr">
              <a:spAutoFit/>
            </a:bodyPr>
            <a:lstStyle/>
            <a:p>
              <a:pPr>
                <a:lnSpc>
                  <a:spcPct val="11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sz="2300" b="0">
                  <a:solidFill>
                    <a:srgbClr val="203448"/>
                  </a:solidFill>
                  <a:latin typeface="Microsoft YaHei"/>
                  <a:ea typeface="Microsoft YaHei"/>
                  <a:cs typeface="Microsoft YaHei"/>
                </a:rPr>
                <a:t>They feel proud when</a:t>
              </a:r>
            </a:p>
            <a:p>
              <a:pPr>
                <a:lnSpc>
                  <a:spcPct val="112000"/>
                </a:lnSpc>
                <a:spcBef>
                  <a:spcPts val="0"/>
                </a:spcBef>
                <a:spcAft>
                  <a:spcPts val="300"/>
                </a:spcAft>
              </a:pPr>
              <a:r>
                <a:rPr sz="2300" b="0">
                  <a:solidFill>
                    <a:srgbClr val="203448"/>
                  </a:solidFill>
                  <a:latin typeface="Microsoft YaHei"/>
                  <a:ea typeface="Microsoft YaHei"/>
                  <a:cs typeface="Microsoft YaHei"/>
                </a:rPr>
                <a:t>they learn a new song.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777240" y="5669280"/>
            <a:ext cx="10607040" cy="512064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示例供选择；请使用符合你所在国家和真实生活的细节。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20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0996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5. Show that it is popular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内容展开｜“很受欢迎”后面，补充谁在做、何时做。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FREE-TIME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332720" cy="73152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Who does it?  ·  Where?  ·  When?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88336"/>
            <a:ext cx="10332720" cy="45720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示例：以中国的篮球活动为例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64992"/>
            <a:ext cx="10332720" cy="86868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In China, basketball is popular with young people.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17136"/>
            <a:ext cx="10332720" cy="868680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At my school, many students play it after class.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24144"/>
            <a:ext cx="10332720" cy="45720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国家与学校情况可替换；不要把个人喜好当成全部说明。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0996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6. Why do young people enjoy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观点展开｜先说原因，再补充能解释这个原因的具体细节。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FREE-TIME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475488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645920"/>
            <a:ext cx="562356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Specific detail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50592"/>
            <a:ext cx="4754880" cy="106070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It is a great way to spend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time with friends.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450592"/>
            <a:ext cx="5623560" cy="1060704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example, classmates can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play together after school.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22191"/>
            <a:ext cx="4754880" cy="106070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It is easy to start.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822191"/>
            <a:ext cx="5623560" cy="1060704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You only need a ball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and a court.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96128"/>
            <a:ext cx="10515600" cy="56692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具体细节要回答：为什么这个原因会让人喜欢这项活动？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0996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7. Make your sentence stronger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句子升级｜从笼统评价，走向原因和具体说明。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FREE-TIME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332720" cy="64008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It is fun.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95728"/>
            <a:ext cx="9875520" cy="43891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↓  Why?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10332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It is fun because we can play with friends.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13048"/>
            <a:ext cx="9875520" cy="43891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↓  Give a specific detail.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52544"/>
            <a:ext cx="10332720" cy="1078992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example, my classmates and I play after school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and laugh together.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观点 → 为什么 → 具体发生了什么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0996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8. Useful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词汇整理｜先试着说出搭配，再单击回顾。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FREE-TIME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502920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Popularity &amp;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627632"/>
            <a:ext cx="5257800" cy="59436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Reasons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50592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be popular with young people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受年轻人欢迎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75304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in their free time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在他们的空闲时间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0016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after school / at weekends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放学后／在周末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450592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spend time with friends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与朋友共度时光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575304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relax after a busy day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忙碌一天后放松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4700016"/>
            <a:ext cx="5029200" cy="93268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feel proud of themselves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为自己感到自豪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0996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9. Choose linking words by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连接词用法｜本题主要需要：原因、举例、补充、结果。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FREE-TIME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82880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627632"/>
            <a:ext cx="278892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Linker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627632"/>
            <a:ext cx="5760720" cy="576072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59152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原因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359152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because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359152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They enjoy it because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they can play with friends.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18688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举例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218688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for example /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for instance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18688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example, classmates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can play after school.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78224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补充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4078224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also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078224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It also helps them relax.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937760"/>
            <a:ext cx="18288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1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937760"/>
            <a:ext cx="27889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1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937760"/>
            <a:ext cx="576072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There are courts nearby,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so they can play there.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10607040" cy="3200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for example / for instance 通常可互换；连接词不必全部使用。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9" grpId="0" animBg="1"/>
      <p:bldP spid="22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0996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10. Linking words: your 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连接词练习｜先口头补全句子；举例处接受两种合理表达。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FREE-TIME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1  Young people enjoy basketball ______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    they can play with friends.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2459736"/>
            <a:ext cx="9966960" cy="43891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because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35808"/>
            <a:ext cx="105156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2  It is easy to start. ______, you only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    need a ball and a court.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3849624"/>
            <a:ext cx="9966960" cy="43891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For example / For instance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25696"/>
            <a:ext cx="10515600" cy="78638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3  It is fun. It ______ helps them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    relax after school.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5" y="5239512"/>
            <a:ext cx="9966960" cy="43891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also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0996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11. Develop YOUR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口头构思｜换成你选的活动，保留自己的原因和例子。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FREE-TIME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332720" cy="676656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8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My activity: __________________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10332720" cy="98755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Why do young people enjoy it?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They enjoy it because __________________.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10332720" cy="987552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What specific detail supports your reason?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example, _________________________.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541264"/>
            <a:ext cx="10332720" cy="557784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细节提示：谁一起做？在哪里？何时？具体做什么？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0996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12. Writing 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写作框架｜约100词；自己决定活动、原因与具体细节。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FREE-TIME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874519" cy="1024128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OPENING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引出活动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2928" y="1691640"/>
            <a:ext cx="8531352" cy="102412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In __________, __________ is popular with young people.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They often __________.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44368"/>
            <a:ext cx="1874519" cy="164592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WHY?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展开原因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944368"/>
            <a:ext cx="8531352" cy="164592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One reason is __________.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For example / For instance, __________.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They also enjoy it because __________.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28032"/>
            <a:ext cx="1874519" cy="914400"/>
          </a:xfrm>
          <a:prstGeom prst="rect">
            <a:avLst/>
          </a:prstGeom>
          <a:solidFill>
            <a:srgbClr val="367DB1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ENDING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自然收尾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4828032"/>
            <a:ext cx="8531352" cy="914400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That is why __________.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OR  Why not __________?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43600"/>
            <a:ext cx="10515600" cy="29260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框架可调整；收尾二选一，也可以写自己的句子。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0996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13. Write and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独立写作｜先完成自己的文章，再按本题要求检查。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FREE-TIME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" y="1828800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719072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ONE activity throughout the article?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" y="2551176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441448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Young people in my country included?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3273552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163824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Clear reasons why people enjoy it?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" y="3995928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3886200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Specific details that support my reasons?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1832" y="4718304"/>
            <a:ext cx="274320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367D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4608576"/>
            <a:ext cx="987552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Correct linking words and about 100 words?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424160" cy="438912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>
                <a:solidFill>
                  <a:srgbClr val="30776D"/>
                </a:solidFill>
                <a:latin typeface="Microsoft YaHei"/>
                <a:ea typeface="Microsoft YaHei"/>
                <a:cs typeface="Microsoft YaHei"/>
              </a:rPr>
              <a:t>Write your article. Give it a suitable title.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6868" cy="6858000"/>
          </a:xfrm>
          <a:prstGeom prst="rect">
            <a:avLst/>
          </a:prstGeom>
          <a:solidFill>
            <a:srgbClr val="367D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09960" cy="64008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32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14. Model article: read after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1064240" cy="429768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范文回看｜写完后再看：找出活动、原因和支撑细节。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6419088"/>
            <a:ext cx="10945368" cy="10972"/>
          </a:xfrm>
          <a:prstGeom prst="rect">
            <a:avLst/>
          </a:prstGeom>
          <a:solidFill>
            <a:srgbClr val="CBDC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144000" cy="19202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5A6978"/>
                </a:solidFill>
                <a:latin typeface="Microsoft YaHei"/>
                <a:ea typeface="Microsoft YaHei"/>
                <a:cs typeface="Microsoft YaHei"/>
              </a:rPr>
              <a:t>PET ARTICLE  ·  FREE-TIME ACTIVITIES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473952"/>
            <a:ext cx="475488" cy="265176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10424160" cy="548640"/>
          </a:xfrm>
          <a:prstGeom prst="rect">
            <a:avLst/>
          </a:prstGeom>
          <a:noFill/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900" b="1">
                <a:solidFill>
                  <a:srgbClr val="367DB1"/>
                </a:solidFill>
                <a:latin typeface="Microsoft YaHei"/>
                <a:ea typeface="Microsoft YaHei"/>
                <a:cs typeface="Microsoft YaHei"/>
              </a:rPr>
              <a:t>Basketball with friends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10424160" cy="795528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In China, basketball is popular with young people. At my school, many students play it after class.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10424160" cy="1792224"/>
          </a:xfrm>
          <a:prstGeom prst="rect">
            <a:avLst/>
          </a:prstGeom>
          <a:solidFill>
            <a:srgbClr val="FFF2C6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One reason is that it is a great way to spend time with friends. For example, my classmates and I play in the park at weekends. We laugh and enjoy being together. It is also easy to start because you only need a ball and a court. After a busy school day, a short game helps us relax.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212080"/>
            <a:ext cx="10424160" cy="877824"/>
          </a:xfrm>
          <a:prstGeom prst="rect">
            <a:avLst/>
          </a:prstGeom>
          <a:solidFill>
            <a:srgbClr val="EEF5FB"/>
          </a:solidFill>
        </p:spPr>
        <p:txBody>
          <a:bodyPr wrap="square" lIns="109728" rIns="109728" anchor="ctr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2300" b="0">
                <a:solidFill>
                  <a:srgbClr val="203448"/>
                </a:solidFill>
                <a:latin typeface="Microsoft YaHei"/>
                <a:ea typeface="Microsoft YaHei"/>
                <a:cs typeface="Microsoft YaHei"/>
              </a:rPr>
              <a:t>That is why so many young people enjoy basketball. Why not try it with your friends this weekend?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Microsoft YaHei"/>
        <a:font script="Hebr" typeface="Microsoft YaHei"/>
        <a:font script="Thai" typeface="Microsoft YaHei"/>
        <a:font script="Ethi" typeface="Microsoft YaHei"/>
        <a:font script="Beng" typeface="Microsoft YaHei"/>
        <a:font script="Gujr" typeface="Microsoft YaHei"/>
        <a:font script="Khmr" typeface="Microsoft YaHei"/>
        <a:font script="Knda" typeface="Microsoft YaHei"/>
        <a:font script="Guru" typeface="Microsoft YaHei"/>
        <a:font script="Cans" typeface="Microsoft YaHei"/>
        <a:font script="Cher" typeface="Microsoft YaHei"/>
        <a:font script="Yiii" typeface="Microsoft YaHei"/>
        <a:font script="Tibt" typeface="Microsoft YaHei"/>
        <a:font script="Thaa" typeface="Microsoft YaHei"/>
        <a:font script="Deva" typeface="Microsoft YaHei"/>
        <a:font script="Telu" typeface="Microsoft YaHei"/>
        <a:font script="Taml" typeface="Microsoft YaHei"/>
        <a:font script="Syrc" typeface="Microsoft YaHei"/>
        <a:font script="Orya" typeface="Microsoft YaHei"/>
        <a:font script="Mlym" typeface="Microsoft YaHei"/>
        <a:font script="Laoo" typeface="Microsoft YaHei"/>
        <a:font script="Sinh" typeface="Microsoft YaHei"/>
        <a:font script="Mong" typeface="Microsoft YaHei"/>
        <a:font script="Viet" typeface="Microsoft YaHei"/>
        <a:font script="Uigh" typeface="Microsoft YaHei"/>
        <a:font script="Geor" typeface="Microsoft Ya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